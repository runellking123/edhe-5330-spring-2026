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Week 1: Introduction to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EDHE 5330 - Statistics for Higher Education</a:t>
            </a:r>
            <a:br/>
            <a:r>
              <a:t>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By the end of this week, you will be able to: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1. Define statistics and explain why it matters in education</a:t>
            </a:r>
          </a:p>
          <a:p>
            <a:pPr>
              <a:spcAft>
                <a:spcPts val="1200"/>
              </a:spcAft>
              <a:defRPr sz="2200"/>
            </a:pPr>
            <a:r>
              <a:t>2. Distinguish between descriptive and inferential statistics</a:t>
            </a:r>
          </a:p>
          <a:p>
            <a:pPr>
              <a:spcAft>
                <a:spcPts val="1200"/>
              </a:spcAft>
              <a:defRPr sz="2200"/>
            </a:pPr>
            <a:r>
              <a:t>3. Identify different types of variables</a:t>
            </a:r>
          </a:p>
          <a:p>
            <a:pPr>
              <a:spcAft>
                <a:spcPts val="1200"/>
              </a:spcAft>
              <a:defRPr sz="2200"/>
            </a:pPr>
            <a:r>
              <a:t>4. Classify variables by level of measurement (NOIR)</a:t>
            </a:r>
          </a:p>
          <a:p>
            <a:pPr>
              <a:spcAft>
                <a:spcPts val="1200"/>
              </a:spcAft>
              <a:defRPr sz="2200"/>
            </a:pPr>
            <a:r>
              <a:t>5. Recognize how statistics inform educational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What is Statistics?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Statistics is the science of collecting, organizing, analyzing, and interpreting data to make informed decisions.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Think of statistics as a tool that helps us:</a:t>
            </a:r>
          </a:p>
          <a:p>
            <a:pPr>
              <a:spcAft>
                <a:spcPts val="1200"/>
              </a:spcAft>
              <a:defRPr sz="2200"/>
            </a:pPr>
            <a:r>
              <a:t>   - Make sense of large amounts of information</a:t>
            </a:r>
          </a:p>
          <a:p>
            <a:pPr>
              <a:spcAft>
                <a:spcPts val="1200"/>
              </a:spcAft>
              <a:defRPr sz="2200"/>
            </a:pPr>
            <a:r>
              <a:t>   - Find patterns and trends in data</a:t>
            </a:r>
          </a:p>
          <a:p>
            <a:pPr>
              <a:spcAft>
                <a:spcPts val="1200"/>
              </a:spcAft>
              <a:defRPr sz="2200"/>
            </a:pPr>
            <a:r>
              <a:t>   - Make predictions based on evidence</a:t>
            </a:r>
          </a:p>
          <a:p>
            <a:pPr>
              <a:spcAft>
                <a:spcPts val="1200"/>
              </a:spcAft>
              <a:defRPr sz="2200"/>
            </a:pPr>
            <a:r>
              <a:t>   - Support decisions with facts, not just opinions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Why Statistics Matter in Higher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As education professionals, we use statistics to: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- Measure student learning and success</a:t>
            </a:r>
          </a:p>
          <a:p>
            <a:pPr>
              <a:spcAft>
                <a:spcPts val="1200"/>
              </a:spcAft>
              <a:defRPr sz="2200"/>
            </a:pPr>
            <a:r>
              <a:t>- Evaluate program effectiveness</a:t>
            </a:r>
          </a:p>
          <a:p>
            <a:pPr>
              <a:spcAft>
                <a:spcPts val="1200"/>
              </a:spcAft>
              <a:defRPr sz="2200"/>
            </a:pPr>
            <a:r>
              <a:t>- Make data-driven decisions about resources</a:t>
            </a:r>
          </a:p>
          <a:p>
            <a:pPr>
              <a:spcAft>
                <a:spcPts val="1200"/>
              </a:spcAft>
              <a:defRPr sz="2200"/>
            </a:pPr>
            <a:r>
              <a:t>- Understand enrollment trends</a:t>
            </a:r>
          </a:p>
          <a:p>
            <a:pPr>
              <a:spcAft>
                <a:spcPts val="1200"/>
              </a:spcAft>
              <a:defRPr sz="2200"/>
            </a:pPr>
            <a:r>
              <a:t>- Identify achievement gaps</a:t>
            </a:r>
          </a:p>
          <a:p>
            <a:pPr>
              <a:spcAft>
                <a:spcPts val="1200"/>
              </a:spcAft>
              <a:defRPr sz="2200"/>
            </a:pPr>
            <a:r>
              <a:t>- Assess institutional performance</a:t>
            </a:r>
          </a:p>
          <a:p>
            <a:pPr>
              <a:spcAft>
                <a:spcPts val="1200"/>
              </a:spcAft>
              <a:defRPr sz="2200"/>
            </a:pPr>
            <a:r>
              <a:t>- Communicate findings to stakeholders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Two Types of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DESCRIPTIVE STATISTICS</a:t>
            </a:r>
          </a:p>
          <a:p>
            <a:pPr>
              <a:spcAft>
                <a:spcPts val="1200"/>
              </a:spcAft>
              <a:defRPr sz="2200"/>
            </a:pPr>
            <a:r>
              <a:t>   - Summarizes and describes data</a:t>
            </a:r>
          </a:p>
          <a:p>
            <a:pPr>
              <a:spcAft>
                <a:spcPts val="1200"/>
              </a:spcAft>
              <a:defRPr sz="2200"/>
            </a:pPr>
            <a:r>
              <a:t>   - Answers: "What does the data look like?"</a:t>
            </a:r>
          </a:p>
          <a:p>
            <a:pPr>
              <a:spcAft>
                <a:spcPts val="1200"/>
              </a:spcAft>
              <a:defRPr sz="2200"/>
            </a:pPr>
            <a:r>
              <a:t>   - Examples: averages, percentages, charts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INFERENTIAL STATISTICS</a:t>
            </a:r>
          </a:p>
          <a:p>
            <a:pPr>
              <a:spcAft>
                <a:spcPts val="1200"/>
              </a:spcAft>
              <a:defRPr sz="2200"/>
            </a:pPr>
            <a:r>
              <a:t>   - Makes predictions and draws conclusions</a:t>
            </a:r>
          </a:p>
          <a:p>
            <a:pPr>
              <a:spcAft>
                <a:spcPts val="1200"/>
              </a:spcAft>
              <a:defRPr sz="2200"/>
            </a:pPr>
            <a:r>
              <a:t>   - Answers: "What can we conclude about a larger group?"</a:t>
            </a:r>
          </a:p>
          <a:p>
            <a:pPr>
              <a:spcAft>
                <a:spcPts val="1200"/>
              </a:spcAft>
              <a:defRPr sz="2200"/>
            </a:pPr>
            <a:r>
              <a:t>   - Examples: hypothesis testing, confidence intervals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33"/>
                </a:solidFill>
              </a:defRPr>
            </a:pPr>
            <a:r>
              <a:t>Example: Descriptive vs. Inferential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Scenario: A university surveys 500 students about study habits.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DESCRIPTIVE: "The average study time was 15 hours per week."</a:t>
            </a:r>
          </a:p>
          <a:p>
            <a:pPr>
              <a:spcAft>
                <a:spcPts val="800"/>
              </a:spcAft>
              <a:defRPr sz="2000"/>
            </a:pPr>
            <a:r>
              <a:t>   - This describes what we found in our sample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INFERENTIAL: "We can conclude that most students at this</a:t>
            </a:r>
          </a:p>
          <a:p>
            <a:pPr>
              <a:spcAft>
                <a:spcPts val="800"/>
              </a:spcAft>
              <a:defRPr sz="2000"/>
            </a:pPr>
            <a:r>
              <a:t>   university study between 12-18 hours per week."</a:t>
            </a:r>
          </a:p>
          <a:p>
            <a:pPr>
              <a:spcAft>
                <a:spcPts val="800"/>
              </a:spcAft>
              <a:defRPr sz="2000"/>
            </a:pPr>
            <a:r>
              <a:t>   - This makes a conclusion about ALL students based on our sample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Terms: Population vs. Sample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POPULATION</a:t>
            </a:r>
          </a:p>
          <a:p>
            <a:pPr>
              <a:spcAft>
                <a:spcPts val="1200"/>
              </a:spcAft>
              <a:defRPr sz="2200"/>
            </a:pPr>
            <a:r>
              <a:t>   - The entire group you want to study</a:t>
            </a:r>
          </a:p>
          <a:p>
            <a:pPr>
              <a:spcAft>
                <a:spcPts val="1200"/>
              </a:spcAft>
              <a:defRPr sz="2200"/>
            </a:pPr>
            <a:r>
              <a:t>   - Example: ALL students at a university (15,000 students)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SAMPLE</a:t>
            </a:r>
          </a:p>
          <a:p>
            <a:pPr>
              <a:spcAft>
                <a:spcPts val="1200"/>
              </a:spcAft>
              <a:defRPr sz="2200"/>
            </a:pPr>
            <a:r>
              <a:t>   - A smaller group selected from the population</a:t>
            </a:r>
          </a:p>
          <a:p>
            <a:pPr>
              <a:spcAft>
                <a:spcPts val="1200"/>
              </a:spcAft>
              <a:defRPr sz="2200"/>
            </a:pPr>
            <a:r>
              <a:t>   - Example: 500 students randomly selected for a survey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Why sample? It's often impossible or too expensive to study</a:t>
            </a:r>
          </a:p>
          <a:p>
            <a:pPr>
              <a:spcAft>
                <a:spcPts val="1200"/>
              </a:spcAft>
              <a:defRPr sz="2200"/>
            </a:pPr>
            <a:r>
              <a:t>everyone in a population!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What is a Variable?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A variable is any characteristic that can change or vary</a:t>
            </a:r>
          </a:p>
          <a:p>
            <a:pPr>
              <a:spcAft>
                <a:spcPts val="1200"/>
              </a:spcAft>
              <a:defRPr sz="2200"/>
            </a:pPr>
            <a:r>
              <a:t>from one person/thing to another.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Examples of variables in education:</a:t>
            </a:r>
          </a:p>
          <a:p>
            <a:pPr>
              <a:spcAft>
                <a:spcPts val="1200"/>
              </a:spcAft>
              <a:defRPr sz="2200"/>
            </a:pPr>
            <a:r>
              <a:t>   - GPA (can range from 0.0 to 4.0)</a:t>
            </a:r>
          </a:p>
          <a:p>
            <a:pPr>
              <a:spcAft>
                <a:spcPts val="1200"/>
              </a:spcAft>
              <a:defRPr sz="2200"/>
            </a:pPr>
            <a:r>
              <a:t>   - Major (Business, Education, Science, etc.)</a:t>
            </a:r>
          </a:p>
          <a:p>
            <a:pPr>
              <a:spcAft>
                <a:spcPts val="1200"/>
              </a:spcAft>
              <a:defRPr sz="2200"/>
            </a:pPr>
            <a:r>
              <a:t>   - Age (18, 19, 20, 21...)</a:t>
            </a:r>
          </a:p>
          <a:p>
            <a:pPr>
              <a:spcAft>
                <a:spcPts val="1200"/>
              </a:spcAft>
              <a:defRPr sz="2200"/>
            </a:pPr>
            <a:r>
              <a:t>   - Satisfaction level (Very satisfied, Satisfied, etc.)</a:t>
            </a:r>
          </a:p>
          <a:p>
            <a:pPr>
              <a:spcAft>
                <a:spcPts val="1200"/>
              </a:spcAft>
              <a:defRPr sz="2200"/>
            </a:pPr>
            <a:r>
              <a:t>   - Number of credits completed (0, 15, 30, 60...)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Types of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INDEPENDENT VARIABLE (IV)</a:t>
            </a:r>
          </a:p>
          <a:p>
            <a:pPr>
              <a:spcAft>
                <a:spcPts val="1200"/>
              </a:spcAft>
              <a:defRPr sz="2200"/>
            </a:pPr>
            <a:r>
              <a:t>   - The variable you think causes or influences a change</a:t>
            </a:r>
          </a:p>
          <a:p>
            <a:pPr>
              <a:spcAft>
                <a:spcPts val="1200"/>
              </a:spcAft>
              <a:defRPr sz="2200"/>
            </a:pPr>
            <a:r>
              <a:t>   - The "cause" or predictor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DEPENDENT VARIABLE (DV)</a:t>
            </a:r>
          </a:p>
          <a:p>
            <a:pPr>
              <a:spcAft>
                <a:spcPts val="1200"/>
              </a:spcAft>
              <a:defRPr sz="2200"/>
            </a:pPr>
            <a:r>
              <a:t>   - The variable that is affected or influenced</a:t>
            </a:r>
          </a:p>
          <a:p>
            <a:pPr>
              <a:spcAft>
                <a:spcPts val="1200"/>
              </a:spcAft>
              <a:defRPr sz="2200"/>
            </a:pPr>
            <a:r>
              <a:t>   - The "effect" or outcome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Memory trick: The DV "depends" on the IV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33"/>
                </a:solidFill>
              </a:defRPr>
            </a:pPr>
            <a:r>
              <a:t>Example: Identifying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Research question: Does tutoring improve test scores?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Independent Variable: Tutoring (yes or no)</a:t>
            </a:r>
          </a:p>
          <a:p>
            <a:pPr>
              <a:spcAft>
                <a:spcPts val="800"/>
              </a:spcAft>
              <a:defRPr sz="2000"/>
            </a:pPr>
            <a:r>
              <a:t>   - This is what we think causes the change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Dependent Variable: Test scores</a:t>
            </a:r>
          </a:p>
          <a:p>
            <a:pPr>
              <a:spcAft>
                <a:spcPts val="800"/>
              </a:spcAft>
              <a:defRPr sz="2000"/>
            </a:pPr>
            <a:r>
              <a:t>   - This is what we're measuring as the outcome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We're asking: Do test scores DEPEND on whether</a:t>
            </a:r>
          </a:p>
          <a:p>
            <a:pPr>
              <a:spcAft>
                <a:spcPts val="800"/>
              </a:spcAft>
              <a:defRPr sz="2000"/>
            </a:pPr>
            <a:r>
              <a:t>students receive tutoring?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33"/>
                </a:solidFill>
              </a:defRPr>
            </a:pPr>
            <a:r>
              <a:t>Practice: Identify the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A researcher wants to know if class size affects student</a:t>
            </a:r>
          </a:p>
          <a:p>
            <a:pPr>
              <a:spcAft>
                <a:spcPts val="800"/>
              </a:spcAft>
              <a:defRPr sz="2000"/>
            </a:pPr>
            <a:r>
              <a:t>engagement in online courses.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Take a moment to identify:</a:t>
            </a:r>
          </a:p>
          <a:p>
            <a:pPr>
              <a:spcAft>
                <a:spcPts val="800"/>
              </a:spcAft>
              <a:defRPr sz="2000"/>
            </a:pPr>
            <a:r>
              <a:t>   - What is the Independent Variable?</a:t>
            </a:r>
          </a:p>
          <a:p>
            <a:pPr>
              <a:spcAft>
                <a:spcPts val="800"/>
              </a:spcAft>
              <a:defRPr sz="2000"/>
            </a:pPr>
            <a:r>
              <a:t>   - What is the Dependent Variable?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(Think about it before moving to the next slide...)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33"/>
                </a:solidFill>
              </a:defRPr>
            </a:pPr>
            <a:r>
              <a:t>Answer: Identify the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Research: Does class size affect student engagement?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Independent Variable: Class size</a:t>
            </a:r>
          </a:p>
          <a:p>
            <a:pPr>
              <a:spcAft>
                <a:spcPts val="800"/>
              </a:spcAft>
              <a:defRPr sz="2000"/>
            </a:pPr>
            <a:r>
              <a:t>   - This is what we think influences engagement</a:t>
            </a:r>
          </a:p>
          <a:p>
            <a:pPr>
              <a:spcAft>
                <a:spcPts val="800"/>
              </a:spcAft>
              <a:defRPr sz="2000"/>
            </a:pPr>
            <a:r>
              <a:t>   - Examples: small (under 20), medium (20-40), large (40+)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Dependent Variable: Student engagement</a:t>
            </a:r>
          </a:p>
          <a:p>
            <a:pPr>
              <a:spcAft>
                <a:spcPts val="800"/>
              </a:spcAft>
              <a:defRPr sz="2000"/>
            </a:pPr>
            <a:r>
              <a:t>   - This is the outcome we're measuring</a:t>
            </a:r>
          </a:p>
          <a:p>
            <a:pPr>
              <a:spcAft>
                <a:spcPts val="800"/>
              </a:spcAft>
              <a:defRPr sz="2000"/>
            </a:pPr>
            <a:r>
              <a:t>   - Could be measured by participation rates, assignment</a:t>
            </a:r>
          </a:p>
          <a:p>
            <a:pPr>
              <a:spcAft>
                <a:spcPts val="800"/>
              </a:spcAft>
              <a:defRPr sz="2000"/>
            </a:pPr>
            <a:r>
              <a:t>     completion, discussion posts, etc.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Levels of Measurement: NOIR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Variables can be classified by HOW we measure them.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The four levels (from lowest to highest):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N - Nominal (names/categories)</a:t>
            </a:r>
          </a:p>
          <a:p>
            <a:pPr>
              <a:spcAft>
                <a:spcPts val="1200"/>
              </a:spcAft>
              <a:defRPr sz="2200"/>
            </a:pPr>
            <a:r>
              <a:t>O - Ordinal (ordered categories)</a:t>
            </a:r>
          </a:p>
          <a:p>
            <a:pPr>
              <a:spcAft>
                <a:spcPts val="1200"/>
              </a:spcAft>
              <a:defRPr sz="2200"/>
            </a:pPr>
            <a:r>
              <a:t>I - Interval (equal intervals, no true zero)</a:t>
            </a:r>
          </a:p>
          <a:p>
            <a:pPr>
              <a:spcAft>
                <a:spcPts val="1200"/>
              </a:spcAft>
              <a:defRPr sz="2200"/>
            </a:pPr>
            <a:r>
              <a:t>R - Ratio (equal intervals, true zero)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Memory trick: Think "NOIR" (French for black)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Nominal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NOMINAL = Names or Categories (no order)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Characteristics:</a:t>
            </a:r>
          </a:p>
          <a:p>
            <a:pPr>
              <a:spcAft>
                <a:spcPts val="1200"/>
              </a:spcAft>
              <a:defRPr sz="2200"/>
            </a:pPr>
            <a:r>
              <a:t>   - Categories with no natural order</a:t>
            </a:r>
          </a:p>
          <a:p>
            <a:pPr>
              <a:spcAft>
                <a:spcPts val="1200"/>
              </a:spcAft>
              <a:defRPr sz="2200"/>
            </a:pPr>
            <a:r>
              <a:t>   - Numbers are just labels, not meaningful values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Examples in education:</a:t>
            </a:r>
          </a:p>
          <a:p>
            <a:pPr>
              <a:spcAft>
                <a:spcPts val="1200"/>
              </a:spcAft>
              <a:defRPr sz="2200"/>
            </a:pPr>
            <a:r>
              <a:t>   - Major (Business, Education, Psychology)</a:t>
            </a:r>
          </a:p>
          <a:p>
            <a:pPr>
              <a:spcAft>
                <a:spcPts val="1200"/>
              </a:spcAft>
              <a:defRPr sz="2200"/>
            </a:pPr>
            <a:r>
              <a:t>   - Gender (Male, Female, Non-binary)</a:t>
            </a:r>
          </a:p>
          <a:p>
            <a:pPr>
              <a:spcAft>
                <a:spcPts val="1200"/>
              </a:spcAft>
              <a:defRPr sz="2200"/>
            </a:pPr>
            <a:r>
              <a:t>   - Residence (On-campus, Off-campus)</a:t>
            </a:r>
          </a:p>
          <a:p>
            <a:pPr>
              <a:spcAft>
                <a:spcPts val="1200"/>
              </a:spcAft>
              <a:defRPr sz="2200"/>
            </a:pPr>
            <a:r>
              <a:t>   - College (Arts &amp; Sciences, Engineering, Business)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Ordinal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ORDINAL = Ordered Categories (has order, unequal gaps)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Characteristics:</a:t>
            </a:r>
          </a:p>
          <a:p>
            <a:pPr>
              <a:spcAft>
                <a:spcPts val="1200"/>
              </a:spcAft>
              <a:defRPr sz="2200"/>
            </a:pPr>
            <a:r>
              <a:t>   - Categories have a natural order</a:t>
            </a:r>
          </a:p>
          <a:p>
            <a:pPr>
              <a:spcAft>
                <a:spcPts val="1200"/>
              </a:spcAft>
              <a:defRPr sz="2200"/>
            </a:pPr>
            <a:r>
              <a:t>   - But gaps between categories may not be equal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Examples in education:</a:t>
            </a:r>
          </a:p>
          <a:p>
            <a:pPr>
              <a:spcAft>
                <a:spcPts val="1200"/>
              </a:spcAft>
              <a:defRPr sz="2200"/>
            </a:pPr>
            <a:r>
              <a:t>   - Class standing (Freshman, Sophomore, Junior, Senior)</a:t>
            </a:r>
          </a:p>
          <a:p>
            <a:pPr>
              <a:spcAft>
                <a:spcPts val="1200"/>
              </a:spcAft>
              <a:defRPr sz="2200"/>
            </a:pPr>
            <a:r>
              <a:t>   - Satisfaction (Very dissatisfied to Very satisfied)</a:t>
            </a:r>
          </a:p>
          <a:p>
            <a:pPr>
              <a:spcAft>
                <a:spcPts val="1200"/>
              </a:spcAft>
              <a:defRPr sz="2200"/>
            </a:pPr>
            <a:r>
              <a:t>   - Grade letter (A, B, C, D, F)</a:t>
            </a:r>
          </a:p>
          <a:p>
            <a:pPr>
              <a:spcAft>
                <a:spcPts val="1200"/>
              </a:spcAft>
              <a:defRPr sz="2200"/>
            </a:pPr>
            <a:r>
              <a:t>   - Likert scale (Strongly disagree to Strongly agree)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Interval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INTERVAL = Equal Intervals (no true zero)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Characteristics:</a:t>
            </a:r>
          </a:p>
          <a:p>
            <a:pPr>
              <a:spcAft>
                <a:spcPts val="1200"/>
              </a:spcAft>
              <a:defRPr sz="2200"/>
            </a:pPr>
            <a:r>
              <a:t>   - Equal spacing between values</a:t>
            </a:r>
          </a:p>
          <a:p>
            <a:pPr>
              <a:spcAft>
                <a:spcPts val="1200"/>
              </a:spcAft>
              <a:defRPr sz="2200"/>
            </a:pPr>
            <a:r>
              <a:t>   - Zero does NOT mean "none" or "absence of"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Examples:</a:t>
            </a:r>
          </a:p>
          <a:p>
            <a:pPr>
              <a:spcAft>
                <a:spcPts val="1200"/>
              </a:spcAft>
              <a:defRPr sz="2200"/>
            </a:pPr>
            <a:r>
              <a:t>   - Temperature in Fahrenheit (0°F doesn't mean no temp)</a:t>
            </a:r>
          </a:p>
          <a:p>
            <a:pPr>
              <a:spcAft>
                <a:spcPts val="1200"/>
              </a:spcAft>
              <a:defRPr sz="2200"/>
            </a:pPr>
            <a:r>
              <a:t>   - IQ scores (0 doesn't mean no intelligence)</a:t>
            </a:r>
          </a:p>
          <a:p>
            <a:pPr>
              <a:spcAft>
                <a:spcPts val="1200"/>
              </a:spcAft>
              <a:defRPr sz="2200"/>
            </a:pPr>
            <a:r>
              <a:t>   - SAT scores (200-800 scale)</a:t>
            </a:r>
          </a:p>
          <a:p>
            <a:pPr>
              <a:spcAft>
                <a:spcPts val="1200"/>
              </a:spcAft>
              <a:defRPr sz="2200"/>
            </a:pPr>
            <a:r>
              <a:t>   - Year (2020, 2021, 2022 - year 0 doesn't mean no time)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Ratio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RATIO = Equal Intervals + True Zero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Characteristics:</a:t>
            </a:r>
          </a:p>
          <a:p>
            <a:pPr>
              <a:spcAft>
                <a:spcPts val="1200"/>
              </a:spcAft>
              <a:defRPr sz="2200"/>
            </a:pPr>
            <a:r>
              <a:t>   - Equal spacing between values</a:t>
            </a:r>
          </a:p>
          <a:p>
            <a:pPr>
              <a:spcAft>
                <a:spcPts val="1200"/>
              </a:spcAft>
              <a:defRPr sz="2200"/>
            </a:pPr>
            <a:r>
              <a:t>   - Zero means "none" or complete absence</a:t>
            </a:r>
          </a:p>
          <a:p>
            <a:pPr>
              <a:spcAft>
                <a:spcPts val="1200"/>
              </a:spcAft>
              <a:defRPr sz="2200"/>
            </a:pPr>
            <a:r>
              <a:t>   - Can make meaningful ratio comparisons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Examples in education:</a:t>
            </a:r>
          </a:p>
          <a:p>
            <a:pPr>
              <a:spcAft>
                <a:spcPts val="1200"/>
              </a:spcAft>
              <a:defRPr sz="2200"/>
            </a:pPr>
            <a:r>
              <a:t>   - Number of credits (0 means no credits)</a:t>
            </a:r>
          </a:p>
          <a:p>
            <a:pPr>
              <a:spcAft>
                <a:spcPts val="1200"/>
              </a:spcAft>
              <a:defRPr sz="2200"/>
            </a:pPr>
            <a:r>
              <a:t>   - GPA (0.0 means no grade points)</a:t>
            </a:r>
          </a:p>
          <a:p>
            <a:pPr>
              <a:spcAft>
                <a:spcPts val="1200"/>
              </a:spcAft>
              <a:defRPr sz="2200"/>
            </a:pPr>
            <a:r>
              <a:t>   - Income ($0 means no income)</a:t>
            </a:r>
          </a:p>
          <a:p>
            <a:pPr>
              <a:spcAft>
                <a:spcPts val="1200"/>
              </a:spcAft>
              <a:defRPr sz="2200"/>
            </a:pPr>
            <a:r>
              <a:t>   - Age (0 means birth)</a:t>
            </a:r>
          </a:p>
          <a:p>
            <a:pPr>
              <a:spcAft>
                <a:spcPts val="1200"/>
              </a:spcAft>
              <a:defRPr sz="2200"/>
            </a:pPr>
            <a:r>
              <a:t>   - Number of absences (0 means no absences)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NOIR Summary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Level          Order?    Equal Gaps?    True Zero?    Example</a:t>
            </a:r>
          </a:p>
          <a:p>
            <a:pPr>
              <a:spcAft>
                <a:spcPts val="1200"/>
              </a:spcAft>
              <a:defRPr sz="2200"/>
            </a:pPr>
            <a:r>
              <a:t>─────────────────────────────────────────────────────────────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1200"/>
              </a:spcAft>
              <a:defRPr sz="2200"/>
            </a:pPr>
            <a:r>
              <a:t>Nominal        No        No             No            Major</a:t>
            </a:r>
          </a:p>
          <a:p>
            <a:pPr>
              <a:spcAft>
                <a:spcPts val="1200"/>
              </a:spcAft>
              <a:defRPr sz="2200"/>
            </a:pPr>
            <a:r>
              <a:t>Ordinal        Yes       No             No            Class rank</a:t>
            </a:r>
          </a:p>
          <a:p>
            <a:pPr>
              <a:spcAft>
                <a:spcPts val="1200"/>
              </a:spcAft>
              <a:defRPr sz="2200"/>
            </a:pPr>
            <a:r>
              <a:t>Interval       Yes       Yes            No            SAT score</a:t>
            </a:r>
          </a:p>
          <a:p>
            <a:pPr>
              <a:spcAft>
                <a:spcPts val="1200"/>
              </a:spcAft>
              <a:defRPr sz="2200"/>
            </a:pPr>
            <a:r>
              <a:t>Ratio          Yes       Yes            Yes           GPA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As you go up the levels, you can do more math!</a:t>
            </a:r>
          </a:p>
          <a:p>
            <a:pPr>
              <a:spcAft>
                <a:spcPts val="1200"/>
              </a:spcAft>
              <a:defRPr sz="2200"/>
            </a:pPr>
            <a:r>
              <a:t>Ratio allows the most statistical operations.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33"/>
                </a:solidFill>
              </a:defRPr>
            </a:pPr>
            <a:r>
              <a:t>Practice: What Level of Measurement?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Classify each variable by level of measurement: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1. Number of students in a class</a:t>
            </a:r>
          </a:p>
          <a:p>
            <a:pPr>
              <a:spcAft>
                <a:spcPts val="800"/>
              </a:spcAft>
              <a:defRPr sz="2000"/>
            </a:pPr>
            <a:r>
              <a:t>2. Student satisfaction (1=Poor to 5=Excellent)</a:t>
            </a:r>
          </a:p>
          <a:p>
            <a:pPr>
              <a:spcAft>
                <a:spcPts val="800"/>
              </a:spcAft>
              <a:defRPr sz="2000"/>
            </a:pPr>
            <a:r>
              <a:t>3. Type of degree (Associate, Bachelor's, Master's, Doctoral)</a:t>
            </a:r>
          </a:p>
          <a:p>
            <a:pPr>
              <a:spcAft>
                <a:spcPts val="800"/>
              </a:spcAft>
              <a:defRPr sz="2000"/>
            </a:pPr>
            <a:r>
              <a:t>4. Temperature of classrooms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(Think about each one before the next slide...)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33"/>
                </a:solidFill>
              </a:defRPr>
            </a:pPr>
            <a:r>
              <a:t>Answers: Levels of 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1. Number of students in a class = RATIO</a:t>
            </a:r>
          </a:p>
          <a:p>
            <a:pPr>
              <a:spcAft>
                <a:spcPts val="800"/>
              </a:spcAft>
              <a:defRPr sz="2000"/>
            </a:pPr>
            <a:r>
              <a:t>   - True zero (0 students means no students)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2. Student satisfaction (1-5 scale) = ORDINAL</a:t>
            </a:r>
          </a:p>
          <a:p>
            <a:pPr>
              <a:spcAft>
                <a:spcPts val="800"/>
              </a:spcAft>
              <a:defRPr sz="2000"/>
            </a:pPr>
            <a:r>
              <a:t>   - Ordered categories, but gaps may not be equal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3. Type of degree = ORDINAL (if ordered by level)</a:t>
            </a:r>
          </a:p>
          <a:p>
            <a:pPr>
              <a:spcAft>
                <a:spcPts val="800"/>
              </a:spcAft>
              <a:defRPr sz="2000"/>
            </a:pPr>
            <a:r>
              <a:t>   - Could argue Nominal if just categories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4. Temperature of classrooms = INTERVAL</a:t>
            </a:r>
          </a:p>
          <a:p>
            <a:pPr>
              <a:spcAft>
                <a:spcPts val="800"/>
              </a:spcAft>
              <a:defRPr sz="2000"/>
            </a:pPr>
            <a:r>
              <a:t>   - Equal intervals, but 0°F ≠ no temperature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Why Does Level of Measurement Matter?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The level determines what statistics you can use!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Nominal: Can only count frequencies (mode)</a:t>
            </a:r>
          </a:p>
          <a:p>
            <a:pPr>
              <a:spcAft>
                <a:spcPts val="1200"/>
              </a:spcAft>
              <a:defRPr sz="2200"/>
            </a:pPr>
            <a:r>
              <a:t>   - Example: "Most students are Business majors"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Ordinal: Can find middle value (median)</a:t>
            </a:r>
          </a:p>
          <a:p>
            <a:pPr>
              <a:spcAft>
                <a:spcPts val="1200"/>
              </a:spcAft>
              <a:defRPr sz="2200"/>
            </a:pPr>
            <a:r>
              <a:t>   - Example: "The median satisfaction rating is 4"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Interval/Ratio: Can calculate averages (mean)</a:t>
            </a:r>
          </a:p>
          <a:p>
            <a:pPr>
              <a:spcAft>
                <a:spcPts val="1200"/>
              </a:spcAft>
              <a:defRPr sz="2200"/>
            </a:pPr>
            <a:r>
              <a:t>   - Example: "The average GPA is 3.2"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Statistics in Action: A Real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University wants to improve student retention.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Variables they might examine:</a:t>
            </a:r>
          </a:p>
          <a:p>
            <a:pPr>
              <a:spcAft>
                <a:spcPts val="1200"/>
              </a:spcAft>
              <a:defRPr sz="2200"/>
            </a:pPr>
            <a:r>
              <a:t>   - First-generation status (Nominal: Yes/No)</a:t>
            </a:r>
          </a:p>
          <a:p>
            <a:pPr>
              <a:spcAft>
                <a:spcPts val="1200"/>
              </a:spcAft>
              <a:defRPr sz="2200"/>
            </a:pPr>
            <a:r>
              <a:t>   - First-semester GPA (Ratio: 0.0-4.0)</a:t>
            </a:r>
          </a:p>
          <a:p>
            <a:pPr>
              <a:spcAft>
                <a:spcPts val="1200"/>
              </a:spcAft>
              <a:defRPr sz="2200"/>
            </a:pPr>
            <a:r>
              <a:t>   - Satisfaction with advising (Ordinal: 1-5 scale)</a:t>
            </a:r>
          </a:p>
          <a:p>
            <a:pPr>
              <a:spcAft>
                <a:spcPts val="1200"/>
              </a:spcAft>
              <a:defRPr sz="2200"/>
            </a:pPr>
            <a:r>
              <a:t>   - Number of credits attempted (Ratio: 0-18)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Question: Which students are most at risk of leaving?</a:t>
            </a:r>
          </a:p>
          <a:p>
            <a:pPr>
              <a:spcAft>
                <a:spcPts val="1200"/>
              </a:spcAft>
              <a:defRPr sz="2200"/>
            </a:pPr>
            <a:r>
              <a:t>Answer requires: Collecting data, analyzing patterns,</a:t>
            </a:r>
          </a:p>
          <a:p>
            <a:pPr>
              <a:spcAft>
                <a:spcPts val="1200"/>
              </a:spcAft>
              <a:defRPr sz="2200"/>
            </a:pPr>
            <a:r>
              <a:t>making evidence-based decisions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1. Statistics helps us make data-driven decisions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2. Descriptive statistics DESCRIBES data</a:t>
            </a:r>
          </a:p>
          <a:p>
            <a:pPr>
              <a:spcAft>
                <a:spcPts val="1200"/>
              </a:spcAft>
              <a:defRPr sz="2200"/>
            </a:pPr>
            <a:r>
              <a:t>   Inferential statistics makes CONCLUSIONS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3. Population = everyone; Sample = subset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4. IV = cause/predictor; DV = effect/outcome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5. NOIR: Nominal, Ordinal, Interval, Ratio</a:t>
            </a:r>
          </a:p>
          <a:p>
            <a:pPr>
              <a:spcAft>
                <a:spcPts val="1200"/>
              </a:spcAft>
              <a:defRPr sz="2200"/>
            </a:pPr>
            <a:r>
              <a:t>   - Level of measurement determines what stats you can use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Coming Up Next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Week 2: Descriptive Statistics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We will learn:</a:t>
            </a:r>
          </a:p>
          <a:p>
            <a:pPr>
              <a:spcAft>
                <a:spcPts val="1200"/>
              </a:spcAft>
              <a:defRPr sz="2200"/>
            </a:pPr>
            <a:r>
              <a:t>   - Measures of central tendency (mean, median, mode)</a:t>
            </a:r>
          </a:p>
          <a:p>
            <a:pPr>
              <a:spcAft>
                <a:spcPts val="1200"/>
              </a:spcAft>
              <a:defRPr sz="2200"/>
            </a:pPr>
            <a:r>
              <a:t>   - Measures of variability (range, variance, std dev)</a:t>
            </a:r>
          </a:p>
          <a:p>
            <a:pPr>
              <a:spcAft>
                <a:spcPts val="1200"/>
              </a:spcAft>
              <a:defRPr sz="2200"/>
            </a:pPr>
            <a:r>
              <a:t>   - How to create frequency distributions</a:t>
            </a:r>
          </a:p>
          <a:p>
            <a:pPr>
              <a:spcAft>
                <a:spcPts val="1200"/>
              </a:spcAft>
              <a:defRPr sz="2200"/>
            </a:pPr>
            <a:r>
              <a:t>   - How to make graphs and charts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Before next class:</a:t>
            </a:r>
          </a:p>
          <a:p>
            <a:pPr>
              <a:spcAft>
                <a:spcPts val="1200"/>
              </a:spcAft>
              <a:defRPr sz="2200"/>
            </a:pPr>
            <a:r>
              <a:t>   - Complete Discussion #1</a:t>
            </a:r>
          </a:p>
          <a:p>
            <a:pPr>
              <a:spcAft>
                <a:spcPts val="1200"/>
              </a:spcAft>
              <a:defRPr sz="2200"/>
            </a:pPr>
            <a:r>
              <a:t>   - Take Quiz #1</a:t>
            </a:r>
          </a:p>
          <a:p>
            <a:pPr>
              <a:spcAft>
                <a:spcPts val="1200"/>
              </a:spcAft>
              <a:defRPr sz="2200"/>
            </a:pPr>
            <a:r>
              <a:t>   - Read Chapter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