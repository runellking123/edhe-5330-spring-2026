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8: Course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Course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Week 1: Introduction - Variables, Measurement Levels</a:t>
            </a:r>
          </a:p>
          <a:p>
            <a:pPr>
              <a:spcAft>
                <a:spcPts val="800"/>
              </a:spcAft>
              <a:defRPr sz="2000"/>
            </a:pPr>
            <a:r>
              <a:t>Week 2: Descriptive Statistics - Mean, Median, Mode, SD</a:t>
            </a:r>
          </a:p>
          <a:p>
            <a:pPr>
              <a:spcAft>
                <a:spcPts val="800"/>
              </a:spcAft>
              <a:defRPr sz="2000"/>
            </a:pPr>
            <a:r>
              <a:t>Week 3: Probability - Normal Distribution, Z-scores</a:t>
            </a:r>
          </a:p>
          <a:p>
            <a:pPr>
              <a:spcAft>
                <a:spcPts val="800"/>
              </a:spcAft>
              <a:defRPr sz="2000"/>
            </a:pPr>
            <a:r>
              <a:t>Week 4: Sampling - Methods, Bias, Representativeness</a:t>
            </a:r>
          </a:p>
          <a:p>
            <a:pPr>
              <a:spcAft>
                <a:spcPts val="800"/>
              </a:spcAft>
              <a:defRPr sz="2000"/>
            </a:pPr>
            <a:r>
              <a:t>Week 5: Correlation - Relationships, Regression</a:t>
            </a:r>
          </a:p>
          <a:p>
            <a:pPr>
              <a:spcAft>
                <a:spcPts val="800"/>
              </a:spcAft>
              <a:defRPr sz="2000"/>
            </a:pPr>
            <a:r>
              <a:t>Week 6: Hypothesis Testing - P-values, Errors</a:t>
            </a:r>
          </a:p>
          <a:p>
            <a:pPr>
              <a:spcAft>
                <a:spcPts val="800"/>
              </a:spcAft>
              <a:defRPr sz="2000"/>
            </a:pPr>
            <a:r>
              <a:t>Week 7: Group Comparisons - T-tests, ANOVA</a:t>
            </a:r>
          </a:p>
          <a:p>
            <a:pPr>
              <a:spcAft>
                <a:spcPts val="800"/>
              </a:spcAft>
              <a:defRPr sz="2000"/>
            </a:pPr>
            <a:r>
              <a:t>Week 8: Putting It All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Levels of Measurement (NOIR)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NOMINAL: Categories with no order</a:t>
            </a:r>
          </a:p>
          <a:p>
            <a:pPr>
              <a:spcAft>
                <a:spcPts val="800"/>
              </a:spcAft>
              <a:defRPr sz="2000"/>
            </a:pPr>
            <a:r>
              <a:t>   Example: Major, Gender, College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ORDINAL: Ordered categories, unequal gaps</a:t>
            </a:r>
          </a:p>
          <a:p>
            <a:pPr>
              <a:spcAft>
                <a:spcPts val="800"/>
              </a:spcAft>
              <a:defRPr sz="2000"/>
            </a:pPr>
            <a:r>
              <a:t>   Example: Class standing, Likert scales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INTERVAL: Equal intervals, no true zero</a:t>
            </a:r>
          </a:p>
          <a:p>
            <a:pPr>
              <a:spcAft>
                <a:spcPts val="800"/>
              </a:spcAft>
              <a:defRPr sz="2000"/>
            </a:pPr>
            <a:r>
              <a:t>   Example: Temperature, IQ scores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RATIO: Equal intervals, true zero</a:t>
            </a:r>
          </a:p>
          <a:p>
            <a:pPr>
              <a:spcAft>
                <a:spcPts val="800"/>
              </a:spcAft>
              <a:defRPr sz="2000"/>
            </a:pPr>
            <a:r>
              <a:t>   Example: GPA, Age, Income, Credits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CENTRAL TENDENCY (Where's the center?):</a:t>
            </a:r>
          </a:p>
          <a:p>
            <a:pPr>
              <a:spcAft>
                <a:spcPts val="800"/>
              </a:spcAft>
              <a:defRPr sz="2000"/>
            </a:pPr>
            <a:r>
              <a:t>   Mean = Sum / Count (use with symmetric data)</a:t>
            </a:r>
          </a:p>
          <a:p>
            <a:pPr>
              <a:spcAft>
                <a:spcPts val="800"/>
              </a:spcAft>
              <a:defRPr sz="2000"/>
            </a:pPr>
            <a:r>
              <a:t>   Median = Middle value (use with skewed data)</a:t>
            </a:r>
          </a:p>
          <a:p>
            <a:pPr>
              <a:spcAft>
                <a:spcPts val="800"/>
              </a:spcAft>
              <a:defRPr sz="2000"/>
            </a:pPr>
            <a:r>
              <a:t>   Mode = Most frequent value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VARIABILITY (How spread out?):</a:t>
            </a:r>
          </a:p>
          <a:p>
            <a:pPr>
              <a:spcAft>
                <a:spcPts val="800"/>
              </a:spcAft>
              <a:defRPr sz="2000"/>
            </a:pPr>
            <a:r>
              <a:t>   Range = Max - Min</a:t>
            </a:r>
          </a:p>
          <a:p>
            <a:pPr>
              <a:spcAft>
                <a:spcPts val="800"/>
              </a:spcAft>
              <a:defRPr sz="2000"/>
            </a:pPr>
            <a:r>
              <a:t>   Variance = Average squared deviation</a:t>
            </a:r>
          </a:p>
          <a:p>
            <a:pPr>
              <a:spcAft>
                <a:spcPts val="800"/>
              </a:spcAft>
              <a:defRPr sz="2000"/>
            </a:pPr>
            <a:r>
              <a:t>   Standard Deviation = √Variance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Normal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Properties:</a:t>
            </a:r>
          </a:p>
          <a:p>
            <a:pPr>
              <a:spcAft>
                <a:spcPts val="800"/>
              </a:spcAft>
              <a:defRPr sz="2000"/>
            </a:pPr>
            <a:r>
              <a:t>   - Bell-shaped, symmetric</a:t>
            </a:r>
          </a:p>
          <a:p>
            <a:pPr>
              <a:spcAft>
                <a:spcPts val="800"/>
              </a:spcAft>
              <a:defRPr sz="2000"/>
            </a:pPr>
            <a:r>
              <a:t>   - Mean = Median = Mode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Empirical Rule (68-95-99.7):</a:t>
            </a:r>
          </a:p>
          <a:p>
            <a:pPr>
              <a:spcAft>
                <a:spcPts val="800"/>
              </a:spcAft>
              <a:defRPr sz="2000"/>
            </a:pPr>
            <a:r>
              <a:t>   68% within 1 SD of mean</a:t>
            </a:r>
          </a:p>
          <a:p>
            <a:pPr>
              <a:spcAft>
                <a:spcPts val="800"/>
              </a:spcAft>
              <a:defRPr sz="2000"/>
            </a:pPr>
            <a:r>
              <a:t>   95% within 2 SD of mean</a:t>
            </a:r>
          </a:p>
          <a:p>
            <a:pPr>
              <a:spcAft>
                <a:spcPts val="800"/>
              </a:spcAft>
              <a:defRPr sz="2000"/>
            </a:pPr>
            <a:r>
              <a:t>   99.7% within 3 SD of mean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Z-score = (x - mean) / SD</a:t>
            </a:r>
          </a:p>
          <a:p>
            <a:pPr>
              <a:spcAft>
                <a:spcPts val="800"/>
              </a:spcAft>
              <a:defRPr sz="2000"/>
            </a:pPr>
            <a:r>
              <a:t>   Tells how many SDs from the mean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PROBABILITY SAMPLING (preferred):</a:t>
            </a:r>
          </a:p>
          <a:p>
            <a:pPr>
              <a:spcAft>
                <a:spcPts val="800"/>
              </a:spcAft>
              <a:defRPr sz="2000"/>
            </a:pPr>
            <a:r>
              <a:t>   Simple Random - Equal chance for all</a:t>
            </a:r>
          </a:p>
          <a:p>
            <a:pPr>
              <a:spcAft>
                <a:spcPts val="800"/>
              </a:spcAft>
              <a:defRPr sz="2000"/>
            </a:pPr>
            <a:r>
              <a:t>   Stratified - Divide into groups, sample each</a:t>
            </a:r>
          </a:p>
          <a:p>
            <a:pPr>
              <a:spcAft>
                <a:spcPts val="800"/>
              </a:spcAft>
              <a:defRPr sz="2000"/>
            </a:pPr>
            <a:r>
              <a:t>   Cluster - Sample whole groups</a:t>
            </a:r>
          </a:p>
          <a:p>
            <a:pPr>
              <a:spcAft>
                <a:spcPts val="800"/>
              </a:spcAft>
              <a:defRPr sz="2000"/>
            </a:pPr>
            <a:r>
              <a:t>   Systematic - Every kth member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WATCH FOR BIAS:</a:t>
            </a:r>
          </a:p>
          <a:p>
            <a:pPr>
              <a:spcAft>
                <a:spcPts val="800"/>
              </a:spcAft>
              <a:defRPr sz="2000"/>
            </a:pPr>
            <a:r>
              <a:t>   Selection bias, Non-response bias,</a:t>
            </a:r>
          </a:p>
          <a:p>
            <a:pPr>
              <a:spcAft>
                <a:spcPts val="800"/>
              </a:spcAft>
              <a:defRPr sz="2000"/>
            </a:pPr>
            <a:r>
              <a:t>   Undercoverage, Voluntary response bias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Correlation &amp;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CORRELATION (r):</a:t>
            </a:r>
          </a:p>
          <a:p>
            <a:pPr>
              <a:spcAft>
                <a:spcPts val="800"/>
              </a:spcAft>
              <a:defRPr sz="2000"/>
            </a:pPr>
            <a:r>
              <a:t>   Measures strength and direction of relationship</a:t>
            </a:r>
          </a:p>
          <a:p>
            <a:pPr>
              <a:spcAft>
                <a:spcPts val="800"/>
              </a:spcAft>
              <a:defRPr sz="2000"/>
            </a:pPr>
            <a:r>
              <a:t>   Range: -1 to +1</a:t>
            </a:r>
          </a:p>
          <a:p>
            <a:pPr>
              <a:spcAft>
                <a:spcPts val="800"/>
              </a:spcAft>
              <a:defRPr sz="2000"/>
            </a:pPr>
            <a:r>
              <a:t>   |r| &lt; 0.3 weak, 0.3-0.7 moderate, &gt; 0.7 strong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CORRELATION ≠ CAUSATION!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REGRESSION: Y = a + bX</a:t>
            </a:r>
          </a:p>
          <a:p>
            <a:pPr>
              <a:spcAft>
                <a:spcPts val="800"/>
              </a:spcAft>
              <a:defRPr sz="2000"/>
            </a:pPr>
            <a:r>
              <a:t>   a = intercept, b = slope</a:t>
            </a:r>
          </a:p>
          <a:p>
            <a:pPr>
              <a:spcAft>
                <a:spcPts val="800"/>
              </a:spcAft>
              <a:defRPr sz="2000"/>
            </a:pPr>
            <a:r>
              <a:t>   R² = % of variation explained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H₀: Null hypothesis (no effect)</a:t>
            </a:r>
          </a:p>
          <a:p>
            <a:pPr>
              <a:spcAft>
                <a:spcPts val="800"/>
              </a:spcAft>
              <a:defRPr sz="2000"/>
            </a:pPr>
            <a:r>
              <a:t>H₁: Alternative hypothesis (effect exists)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P-VALUE: Probability of results if H₀ true</a:t>
            </a:r>
          </a:p>
          <a:p>
            <a:pPr>
              <a:spcAft>
                <a:spcPts val="800"/>
              </a:spcAft>
              <a:defRPr sz="2000"/>
            </a:pPr>
            <a:r>
              <a:t>   p &lt; 0.05 → Reject H₀ (significant)</a:t>
            </a:r>
          </a:p>
          <a:p>
            <a:pPr>
              <a:spcAft>
                <a:spcPts val="800"/>
              </a:spcAft>
              <a:defRPr sz="2000"/>
            </a:pPr>
            <a:r>
              <a:t>   p ≥ 0.05 → Fail to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ERRORS:</a:t>
            </a:r>
          </a:p>
          <a:p>
            <a:pPr>
              <a:spcAft>
                <a:spcPts val="800"/>
              </a:spcAft>
              <a:defRPr sz="2000"/>
            </a:pPr>
            <a:r>
              <a:t>   Type I: False positive (reject true H₀)</a:t>
            </a:r>
          </a:p>
          <a:p>
            <a:pPr>
              <a:spcAft>
                <a:spcPts val="800"/>
              </a:spcAft>
              <a:defRPr sz="2000"/>
            </a:pPr>
            <a:r>
              <a:t>   Type II: False negative (keep false H₀)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Review: Choosing the Right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2 INDEPENDENT GROUPS:</a:t>
            </a:r>
          </a:p>
          <a:p>
            <a:pPr>
              <a:spcAft>
                <a:spcPts val="800"/>
              </a:spcAft>
              <a:defRPr sz="2000"/>
            </a:pPr>
            <a:r>
              <a:t>   → Independent Samples t-test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 RELATED MEASUREMENTS (same people):</a:t>
            </a:r>
          </a:p>
          <a:p>
            <a:pPr>
              <a:spcAft>
                <a:spcPts val="800"/>
              </a:spcAft>
              <a:defRPr sz="2000"/>
            </a:pPr>
            <a:r>
              <a:t>   → Paired Samples t-test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3+ INDEPENDENT GROUPS:</a:t>
            </a:r>
          </a:p>
          <a:p>
            <a:pPr>
              <a:spcAft>
                <a:spcPts val="800"/>
              </a:spcAft>
              <a:defRPr sz="2000"/>
            </a:pPr>
            <a:r>
              <a:t>   → One-Way ANOVA</a:t>
            </a:r>
          </a:p>
          <a:p>
            <a:pPr>
              <a:spcAft>
                <a:spcPts val="800"/>
              </a:spcAft>
              <a:defRPr sz="2000"/>
            </a:pPr>
            <a:r>
              <a:t>   → Post-hoc tests if significant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Statistical Decision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What are you trying to do?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DESCRIBE DATA → Descriptive statistics</a:t>
            </a:r>
          </a:p>
          <a:p>
            <a:pPr>
              <a:spcAft>
                <a:spcPts val="800"/>
              </a:spcAft>
              <a:defRPr sz="2000"/>
            </a:pPr>
            <a:r>
              <a:t>   (mean, median, SD, graphs)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EXAMINE RELATIONSHIPS → Correlation/Regression</a:t>
            </a:r>
          </a:p>
          <a:p>
            <a:pPr>
              <a:spcAft>
                <a:spcPts val="800"/>
              </a:spcAft>
              <a:defRPr sz="2000"/>
            </a:pPr>
            <a:r>
              <a:t>   (scatterplot, r, regression equation)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COMPARE GROUPS → t-test or ANOVA</a:t>
            </a:r>
          </a:p>
          <a:p>
            <a:pPr>
              <a:spcAft>
                <a:spcPts val="800"/>
              </a:spcAft>
              <a:defRPr sz="2000"/>
            </a:pPr>
            <a:r>
              <a:t>   (2 groups = t-test, 3+ groups = ANOVA)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Common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Using mean with skewed data (use median instead)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Confusing correlation with causation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Misinterpreting p-values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4. Ignoring practical significance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5. Using convenience samples to generalize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6. Not checking test assumptions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7. Forgetting to report effect sizes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Applying Statistics in Your 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As education professionals, you will: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- Evaluate research claims critically</a:t>
            </a:r>
          </a:p>
          <a:p>
            <a:pPr>
              <a:spcAft>
                <a:spcPts val="800"/>
              </a:spcAft>
              <a:defRPr sz="2000"/>
            </a:pPr>
            <a:r>
              <a:t>   - Make data-driven decisions</a:t>
            </a:r>
          </a:p>
          <a:p>
            <a:pPr>
              <a:spcAft>
                <a:spcPts val="800"/>
              </a:spcAft>
              <a:defRPr sz="2000"/>
            </a:pPr>
            <a:r>
              <a:t>   - Communicate findings to stakeholders</a:t>
            </a:r>
          </a:p>
          <a:p>
            <a:pPr>
              <a:spcAft>
                <a:spcPts val="800"/>
              </a:spcAft>
              <a:defRPr sz="2000"/>
            </a:pPr>
            <a:r>
              <a:t>   - Design assessments and evaluations</a:t>
            </a:r>
          </a:p>
          <a:p>
            <a:pPr>
              <a:spcAft>
                <a:spcPts val="800"/>
              </a:spcAft>
              <a:defRPr sz="2000"/>
            </a:pPr>
            <a:r>
              <a:t>   - Identify trends and patterns</a:t>
            </a:r>
          </a:p>
          <a:p>
            <a:pPr>
              <a:spcAft>
                <a:spcPts val="800"/>
              </a:spcAft>
              <a:defRPr sz="2000"/>
            </a:pPr>
            <a:r>
              <a:t>   - Support equity and student success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Statistics is a tool for better decision-making!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Resources for Continued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Books:</a:t>
            </a:r>
          </a:p>
          <a:p>
            <a:pPr>
              <a:spcAft>
                <a:spcPts val="800"/>
              </a:spcAft>
              <a:defRPr sz="2000"/>
            </a:pPr>
            <a:r>
              <a:t>   - Statistics for People Who (Think They) Hate Statistics</a:t>
            </a:r>
          </a:p>
          <a:p>
            <a:pPr>
              <a:spcAft>
                <a:spcPts val="800"/>
              </a:spcAft>
              <a:defRPr sz="2000"/>
            </a:pPr>
            <a:r>
              <a:t>   - Statistics in Plain English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Online:</a:t>
            </a:r>
          </a:p>
          <a:p>
            <a:pPr>
              <a:spcAft>
                <a:spcPts val="800"/>
              </a:spcAft>
              <a:defRPr sz="2000"/>
            </a:pPr>
            <a:r>
              <a:t>   - Khan Academy Statistics</a:t>
            </a:r>
          </a:p>
          <a:p>
            <a:pPr>
              <a:spcAft>
                <a:spcPts val="800"/>
              </a:spcAft>
              <a:defRPr sz="2000"/>
            </a:pPr>
            <a:r>
              <a:t>   - Coursera Data Analysis courses</a:t>
            </a:r>
          </a:p>
          <a:p>
            <a:pPr>
              <a:spcAft>
                <a:spcPts val="800"/>
              </a:spcAft>
              <a:defRPr sz="2000"/>
            </a:pPr>
            <a:r>
              <a:t>   - YouTube: StatQuest, CrashCourse Statistics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Software:</a:t>
            </a:r>
          </a:p>
          <a:p>
            <a:pPr>
              <a:spcAft>
                <a:spcPts val="800"/>
              </a:spcAft>
              <a:defRPr sz="2000"/>
            </a:pPr>
            <a:r>
              <a:t>   - Excel (what we've used)</a:t>
            </a:r>
          </a:p>
          <a:p>
            <a:pPr>
              <a:spcAft>
                <a:spcPts val="800"/>
              </a:spcAft>
              <a:defRPr sz="2000"/>
            </a:pPr>
            <a:r>
              <a:t>   - SPSS, R, Python (advanced)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Final Reminders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Due this week: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FINAL PROJECT: Comprehensive Statistical Analysis</a:t>
            </a:r>
          </a:p>
          <a:p>
            <a:pPr>
              <a:spcAft>
                <a:spcPts val="800"/>
              </a:spcAft>
              <a:defRPr sz="2000"/>
            </a:pPr>
            <a:r>
              <a:t>      - Due March 11, 11:59 PM</a:t>
            </a:r>
          </a:p>
          <a:p>
            <a:pPr>
              <a:spcAft>
                <a:spcPts val="800"/>
              </a:spcAft>
              <a:defRPr sz="2000"/>
            </a:pPr>
            <a:r>
              <a:t>      - 150 points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COURSE REFLECTION: Growth and Application</a:t>
            </a:r>
          </a:p>
          <a:p>
            <a:pPr>
              <a:spcAft>
                <a:spcPts val="800"/>
              </a:spcAft>
              <a:defRPr sz="2000"/>
            </a:pPr>
            <a:r>
              <a:t>      - Due March 11, 11:59 PM</a:t>
            </a:r>
          </a:p>
          <a:p>
            <a:pPr>
              <a:spcAft>
                <a:spcPts val="800"/>
              </a:spcAft>
              <a:defRPr sz="2000"/>
            </a:pPr>
            <a:r>
              <a:t>      - 20 points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Good luck on your final projects!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Congratulations on completing EDHE 5330!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You now have foundational skills in:</a:t>
            </a:r>
          </a:p>
          <a:p>
            <a:pPr>
              <a:spcAft>
                <a:spcPts val="800"/>
              </a:spcAft>
              <a:defRPr sz="2000"/>
            </a:pPr>
            <a:r>
              <a:t>   - Understanding statistical concepts</a:t>
            </a:r>
          </a:p>
          <a:p>
            <a:pPr>
              <a:spcAft>
                <a:spcPts val="800"/>
              </a:spcAft>
              <a:defRPr sz="2000"/>
            </a:pPr>
            <a:r>
              <a:t>   - Analyzing data</a:t>
            </a:r>
          </a:p>
          <a:p>
            <a:pPr>
              <a:spcAft>
                <a:spcPts val="800"/>
              </a:spcAft>
              <a:defRPr sz="2000"/>
            </a:pPr>
            <a:r>
              <a:t>   - Interpreting research findings</a:t>
            </a:r>
          </a:p>
          <a:p>
            <a:pPr>
              <a:spcAft>
                <a:spcPts val="800"/>
              </a:spcAft>
              <a:defRPr sz="2000"/>
            </a:pPr>
            <a:r>
              <a:t>   - Making evidence-based decisions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These skills will serve you throughout your career</a:t>
            </a:r>
          </a:p>
          <a:p>
            <a:pPr>
              <a:spcAft>
                <a:spcPts val="800"/>
              </a:spcAft>
              <a:defRPr sz="2000"/>
            </a:pPr>
            <a:r>
              <a:t>in higher education.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Best wishes for your continued success!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