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Week 6: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EDHE 5330 - Statistics for Higher Education</a:t>
            </a:r>
            <a:br/>
            <a: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By the end of this week, you will be able to: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Write null and alternative hypotheses</a:t>
            </a:r>
          </a:p>
          <a:p>
            <a:pPr>
              <a:spcAft>
                <a:spcPts val="800"/>
              </a:spcAft>
              <a:defRPr sz="2000"/>
            </a:pPr>
            <a:r>
              <a:t>2. Understand significance levels (alpha)</a:t>
            </a:r>
          </a:p>
          <a:p>
            <a:pPr>
              <a:spcAft>
                <a:spcPts val="800"/>
              </a:spcAft>
              <a:defRPr sz="2000"/>
            </a:pPr>
            <a:r>
              <a:t>3. Interpret p-values correctly</a:t>
            </a:r>
          </a:p>
          <a:p>
            <a:pPr>
              <a:spcAft>
                <a:spcPts val="800"/>
              </a:spcAft>
              <a:defRPr sz="2000"/>
            </a:pPr>
            <a:r>
              <a:t>4. Distinguish Type I and Type II errors</a:t>
            </a:r>
          </a:p>
          <a:p>
            <a:pPr>
              <a:spcAft>
                <a:spcPts val="800"/>
              </a:spcAft>
              <a:defRPr sz="2000"/>
            </a:pPr>
            <a:r>
              <a:t>5. Make decisions about hypotheses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Hypothesis Testing?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formal process for using sample data to evaluate</a:t>
            </a:r>
          </a:p>
          <a:p>
            <a:pPr>
              <a:spcAft>
                <a:spcPts val="800"/>
              </a:spcAft>
              <a:defRPr sz="2000"/>
            </a:pPr>
            <a:r>
              <a:t>a claim about a population.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The question: Is our result due to a real effect,</a:t>
            </a:r>
          </a:p>
          <a:p>
            <a:pPr>
              <a:spcAft>
                <a:spcPts val="800"/>
              </a:spcAft>
              <a:defRPr sz="2000"/>
            </a:pPr>
            <a:r>
              <a:t>or just random chance?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 claims:</a:t>
            </a:r>
          </a:p>
          <a:p>
            <a:pPr>
              <a:spcAft>
                <a:spcPts val="800"/>
              </a:spcAft>
              <a:defRPr sz="2000"/>
            </a:pPr>
            <a:r>
              <a:t>   - "This new teaching method improves test scores"</a:t>
            </a:r>
          </a:p>
          <a:p>
            <a:pPr>
              <a:spcAft>
                <a:spcPts val="800"/>
              </a:spcAft>
              <a:defRPr sz="2000"/>
            </a:pPr>
            <a:r>
              <a:t>   - "Males and females have different graduation rates"</a:t>
            </a:r>
          </a:p>
          <a:p>
            <a:pPr>
              <a:spcAft>
                <a:spcPts val="800"/>
              </a:spcAft>
              <a:defRPr sz="2000"/>
            </a:pPr>
            <a:r>
              <a:t>   - "Tutoring increases student retention"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Two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NULL HYPOTHESIS (H₀):</a:t>
            </a:r>
          </a:p>
          <a:p>
            <a:pPr>
              <a:spcAft>
                <a:spcPts val="800"/>
              </a:spcAft>
              <a:defRPr sz="2000"/>
            </a:pPr>
            <a:r>
              <a:t>   - The "nothing is happening" hypothesis</a:t>
            </a:r>
          </a:p>
          <a:p>
            <a:pPr>
              <a:spcAft>
                <a:spcPts val="800"/>
              </a:spcAft>
              <a:defRPr sz="2000"/>
            </a:pPr>
            <a:r>
              <a:t>   - Assumes no effect, no difference</a:t>
            </a:r>
          </a:p>
          <a:p>
            <a:pPr>
              <a:spcAft>
                <a:spcPts val="800"/>
              </a:spcAft>
              <a:defRPr sz="2000"/>
            </a:pPr>
            <a:r>
              <a:t>   - What we try to REJECT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ALTERNATIVE HYPOTHESIS (H₁ or Hₐ):</a:t>
            </a:r>
          </a:p>
          <a:p>
            <a:pPr>
              <a:spcAft>
                <a:spcPts val="800"/>
              </a:spcAft>
              <a:defRPr sz="2000"/>
            </a:pPr>
            <a:r>
              <a:t>   - What we're trying to SUPPORT</a:t>
            </a:r>
          </a:p>
          <a:p>
            <a:pPr>
              <a:spcAft>
                <a:spcPts val="800"/>
              </a:spcAft>
              <a:defRPr sz="2000"/>
            </a:pPr>
            <a:r>
              <a:t>   - Claims there IS an effect or difference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NEVER "prove" a hypothesis - we either:</a:t>
            </a:r>
          </a:p>
          <a:p>
            <a:pPr>
              <a:spcAft>
                <a:spcPts val="800"/>
              </a:spcAft>
              <a:defRPr sz="2000"/>
            </a:pPr>
            <a:r>
              <a:t>   - Reject H₀ (evidence supports H₁)</a:t>
            </a:r>
          </a:p>
          <a:p>
            <a:pPr>
              <a:spcAft>
                <a:spcPts val="800"/>
              </a:spcAft>
              <a:defRPr sz="2000"/>
            </a:pPr>
            <a:r>
              <a:t>   - Fail to reject H₀ (not enough evidence)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Writing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 question: Does a new study app improve test scores?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H₀: The app has no effect on test scores</a:t>
            </a:r>
          </a:p>
          <a:p>
            <a:pPr>
              <a:spcAft>
                <a:spcPts val="800"/>
              </a:spcAft>
              <a:defRPr sz="2000"/>
            </a:pPr>
            <a:r>
              <a:t>    (mean with app = mean without app)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H₁: The app improves test scores</a:t>
            </a:r>
          </a:p>
          <a:p>
            <a:pPr>
              <a:spcAft>
                <a:spcPts val="800"/>
              </a:spcAft>
              <a:defRPr sz="2000"/>
            </a:pPr>
            <a:r>
              <a:t>    (mean with app &gt; mean without app)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Note: H₀ always contains "=" or "no difference"</a:t>
            </a:r>
          </a:p>
          <a:p>
            <a:pPr>
              <a:spcAft>
                <a:spcPts val="800"/>
              </a:spcAft>
              <a:defRPr sz="2000"/>
            </a:pPr>
            <a:r>
              <a:t>      H₁ contains the effect we're looking for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P-Value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P-VALUE = The probability of getting results at least</a:t>
            </a:r>
          </a:p>
          <a:p>
            <a:pPr>
              <a:spcAft>
                <a:spcPts val="800"/>
              </a:spcAft>
              <a:defRPr sz="2000"/>
            </a:pPr>
            <a:r>
              <a:t>as extreme as ours, IF the null hypothesis were true.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In simple terms: How surprised should we be by our data</a:t>
            </a:r>
          </a:p>
          <a:p>
            <a:pPr>
              <a:spcAft>
                <a:spcPts val="800"/>
              </a:spcAft>
              <a:defRPr sz="2000"/>
            </a:pPr>
            <a:r>
              <a:t>if there's really no effect?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Small p-value (&lt; 0.05): Very surprising! Rare to get</a:t>
            </a:r>
          </a:p>
          <a:p>
            <a:pPr>
              <a:spcAft>
                <a:spcPts val="800"/>
              </a:spcAft>
              <a:defRPr sz="2000"/>
            </a:pPr>
            <a:r>
              <a:t>   these results by chance. Reject H₀.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Large p-value (≥ 0.05): Not surprising. Could easily</a:t>
            </a:r>
          </a:p>
          <a:p>
            <a:pPr>
              <a:spcAft>
                <a:spcPts val="800"/>
              </a:spcAft>
              <a:defRPr sz="2000"/>
            </a:pPr>
            <a:r>
              <a:t>   happen by chance. Fail to reject H₀.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Significance Level (Alpha)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ALPHA (α) = The threshold for rejecting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Common choice: α = 0.05 (5%)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 rule:</a:t>
            </a:r>
          </a:p>
          <a:p>
            <a:pPr>
              <a:spcAft>
                <a:spcPts val="800"/>
              </a:spcAft>
              <a:defRPr sz="2000"/>
            </a:pPr>
            <a:r>
              <a:t>   If p-value &lt; α → Reject H₀ (statistically significant)</a:t>
            </a:r>
          </a:p>
          <a:p>
            <a:pPr>
              <a:spcAft>
                <a:spcPts val="800"/>
              </a:spcAft>
              <a:defRPr sz="2000"/>
            </a:pPr>
            <a:r>
              <a:t>   If p-value ≥ α → Fail to reject H₀ (not significant)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Other common alpha levels:</a:t>
            </a:r>
          </a:p>
          <a:p>
            <a:pPr>
              <a:spcAft>
                <a:spcPts val="800"/>
              </a:spcAft>
              <a:defRPr sz="2000"/>
            </a:pPr>
            <a:r>
              <a:t>   α = 0.01 (more conservative)</a:t>
            </a:r>
          </a:p>
          <a:p>
            <a:pPr>
              <a:spcAft>
                <a:spcPts val="800"/>
              </a:spcAft>
              <a:defRPr sz="2000"/>
            </a:pPr>
            <a:r>
              <a:t>   α = 0.10 (less conservative)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Making a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Research: Testing whether a tutoring program improves grades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H₀: Tutoring has no effect (μ₁ = μ₂)</a:t>
            </a:r>
          </a:p>
          <a:p>
            <a:pPr>
              <a:spcAft>
                <a:spcPts val="800"/>
              </a:spcAft>
              <a:defRPr sz="2000"/>
            </a:pPr>
            <a:r>
              <a:t>H₁: Tutoring improves grades (μ₁ &gt; μ₂)</a:t>
            </a:r>
          </a:p>
          <a:p>
            <a:pPr>
              <a:spcAft>
                <a:spcPts val="800"/>
              </a:spcAft>
              <a:defRPr sz="2000"/>
            </a:pPr>
            <a:r>
              <a:t>α = 0.05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Results: p-value = 0.02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Decision: Since 0.02 &lt; 0.05,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Conclusion: There is statistically significant evidence</a:t>
            </a:r>
          </a:p>
          <a:p>
            <a:pPr>
              <a:spcAft>
                <a:spcPts val="800"/>
              </a:spcAft>
              <a:defRPr sz="2000"/>
            </a:pPr>
            <a:r>
              <a:t>that tutoring improves grades.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P-Values Do NOT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Common WRONG interpretations: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❌ P-value is NOT the probability H₀ is true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❌ P-value is NOT the probability of making an error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❌ Small p-value does NOT mean large/important effect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❌ P &gt; 0.05 does NOT mean H₀ is true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✓ P-value only tells us how surprising our data is</a:t>
            </a:r>
          </a:p>
          <a:p>
            <a:pPr>
              <a:spcAft>
                <a:spcPts val="800"/>
              </a:spcAft>
              <a:defRPr sz="2000"/>
            </a:pPr>
            <a:r>
              <a:t>  IF H₀ were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Type I and Type II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TYPE I ERROR (False Positive):</a:t>
            </a:r>
          </a:p>
          <a:p>
            <a:pPr>
              <a:spcAft>
                <a:spcPts val="800"/>
              </a:spcAft>
              <a:defRPr sz="2000"/>
            </a:pPr>
            <a:r>
              <a:t>   - Rejecting H₀ when it's actually TRUE</a:t>
            </a:r>
          </a:p>
          <a:p>
            <a:pPr>
              <a:spcAft>
                <a:spcPts val="800"/>
              </a:spcAft>
              <a:defRPr sz="2000"/>
            </a:pPr>
            <a:r>
              <a:t>   - "Finding" an effect that doesn't exist</a:t>
            </a:r>
          </a:p>
          <a:p>
            <a:pPr>
              <a:spcAft>
                <a:spcPts val="800"/>
              </a:spcAft>
              <a:defRPr sz="2000"/>
            </a:pPr>
            <a:r>
              <a:t>   - Probability = α (significance level)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TYPE II ERROR (False Negative):</a:t>
            </a:r>
          </a:p>
          <a:p>
            <a:pPr>
              <a:spcAft>
                <a:spcPts val="800"/>
              </a:spcAft>
              <a:defRPr sz="2000"/>
            </a:pPr>
            <a:r>
              <a:t>   - Failing to reject H₀ when it's actually FALSE</a:t>
            </a:r>
          </a:p>
          <a:p>
            <a:pPr>
              <a:spcAft>
                <a:spcPts val="800"/>
              </a:spcAft>
              <a:defRPr sz="2000"/>
            </a:pPr>
            <a:r>
              <a:t>   - "Missing" a real effect</a:t>
            </a:r>
          </a:p>
          <a:p>
            <a:pPr>
              <a:spcAft>
                <a:spcPts val="800"/>
              </a:spcAft>
              <a:defRPr sz="2000"/>
            </a:pPr>
            <a:r>
              <a:t>   - Probability = β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Trade-off: Reducing one type increases the other!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Example: Understanding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Scenario: Testing a new drug for effectiveness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TYPE I ERROR: Concluding the drug works when it doesn't</a:t>
            </a:r>
          </a:p>
          <a:p>
            <a:pPr>
              <a:spcAft>
                <a:spcPts val="800"/>
              </a:spcAft>
              <a:defRPr sz="2000"/>
            </a:pPr>
            <a:r>
              <a:t>   - Consequence: Patients take ineffective drug</a:t>
            </a:r>
          </a:p>
          <a:p>
            <a:pPr>
              <a:spcAft>
                <a:spcPts val="800"/>
              </a:spcAft>
              <a:defRPr sz="2000"/>
            </a:pPr>
            <a:r>
              <a:t>   - Could be harmful or waste money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TYPE II ERROR: Concluding the drug doesn't work when it does</a:t>
            </a:r>
          </a:p>
          <a:p>
            <a:pPr>
              <a:spcAft>
                <a:spcPts val="800"/>
              </a:spcAft>
              <a:defRPr sz="2000"/>
            </a:pPr>
            <a:r>
              <a:t>   - Consequence: Effective drug never reaches patients</a:t>
            </a:r>
          </a:p>
          <a:p>
            <a:pPr>
              <a:spcAft>
                <a:spcPts val="800"/>
              </a:spcAft>
              <a:defRPr sz="2000"/>
            </a:pPr>
            <a:r>
              <a:t>   - Missed opportunity to help people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Which error is worse? Depends on context!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Statistical vs. Practical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STATISTICAL SIGNIFICANCE: p &lt; α</a:t>
            </a:r>
          </a:p>
          <a:p>
            <a:pPr>
              <a:spcAft>
                <a:spcPts val="800"/>
              </a:spcAft>
              <a:defRPr sz="2000"/>
            </a:pPr>
            <a:r>
              <a:t>   - Result is unlikely due to chance alone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PRACTICAL SIGNIFICANCE: Is the effect meaningful?</a:t>
            </a:r>
          </a:p>
          <a:p>
            <a:pPr>
              <a:spcAft>
                <a:spcPts val="800"/>
              </a:spcAft>
              <a:defRPr sz="2000"/>
            </a:pPr>
            <a:r>
              <a:t>   - Even if statistically significant, is it important?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Example: A study finds students in small classes score</a:t>
            </a:r>
          </a:p>
          <a:p>
            <a:pPr>
              <a:spcAft>
                <a:spcPts val="800"/>
              </a:spcAft>
              <a:defRPr sz="2000"/>
            </a:pPr>
            <a:r>
              <a:t>0.5 points higher on average (p = 0.001).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Statistically significant? YES (p &lt; 0.05)</a:t>
            </a:r>
          </a:p>
          <a:p>
            <a:pPr>
              <a:spcAft>
                <a:spcPts val="800"/>
              </a:spcAft>
              <a:defRPr sz="2000"/>
            </a:pPr>
            <a:r>
              <a:t>Practically significant? Probably NOT (0.5 points is tiny)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consider BOTH!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Hypothesis Testing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Step 1: State the hypotheses (H₀ and H₁)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2: Choose significance level (α)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3: Collect data and calculate test statistic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4: Find the p-value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5: Make a decision (reject or fail to reject H₀)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6: State conclusion in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Practice: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 college claims average student debt is $25,000.</a:t>
            </a:r>
          </a:p>
          <a:p>
            <a:pPr>
              <a:spcAft>
                <a:spcPts val="800"/>
              </a:spcAft>
              <a:defRPr sz="2000"/>
            </a:pPr>
            <a:r>
              <a:t>A researcher suspects it's higher.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Sample of 100 graduates: Mean = $27,500, p-value = 0.03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1. What are H₀ and H₁?</a:t>
            </a:r>
          </a:p>
          <a:p>
            <a:pPr>
              <a:spcAft>
                <a:spcPts val="800"/>
              </a:spcAft>
              <a:defRPr sz="2000"/>
            </a:pPr>
            <a:r>
              <a:t>2. Using α = 0.05, what is your decision?</a:t>
            </a:r>
          </a:p>
          <a:p>
            <a:pPr>
              <a:spcAft>
                <a:spcPts val="800"/>
              </a:spcAft>
              <a:defRPr sz="2000"/>
            </a:pPr>
            <a:r>
              <a:t>3. State your conclusion.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(Try it before the next slide!)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33"/>
                </a:solidFill>
              </a:defRPr>
            </a:pPr>
            <a:r>
              <a:t>Practice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H₀: μ = $25,000 (debt equals claimed amount)</a:t>
            </a:r>
          </a:p>
          <a:p>
            <a:pPr>
              <a:spcAft>
                <a:spcPts val="800"/>
              </a:spcAft>
              <a:defRPr sz="2000"/>
            </a:pPr>
            <a:r>
              <a:t>H₁: μ &gt; $25,000 (debt is higher than claimed)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Decision: p-value (0.03) &lt; α (0.05)</a:t>
            </a:r>
          </a:p>
          <a:p>
            <a:pPr>
              <a:spcAft>
                <a:spcPts val="800"/>
              </a:spcAft>
              <a:defRPr sz="2000"/>
            </a:pPr>
            <a:r>
              <a:t>   →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Conclusion: There is statistically significant evidence</a:t>
            </a:r>
          </a:p>
          <a:p>
            <a:pPr>
              <a:spcAft>
                <a:spcPts val="800"/>
              </a:spcAft>
              <a:defRPr sz="2000"/>
            </a:pPr>
            <a:r>
              <a:t>that the average student debt is higher than $25,000.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Note: We're not saying the true mean IS $27,500,</a:t>
            </a:r>
          </a:p>
          <a:p>
            <a:pPr>
              <a:spcAft>
                <a:spcPts val="800"/>
              </a:spcAft>
              <a:defRPr sz="2000"/>
            </a:pPr>
            <a:r>
              <a:t>just that it's significantly higher than $25,000.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HYPOTHESES:</a:t>
            </a:r>
          </a:p>
          <a:p>
            <a:pPr>
              <a:spcAft>
                <a:spcPts val="800"/>
              </a:spcAft>
              <a:defRPr sz="2000"/>
            </a:pPr>
            <a:r>
              <a:t>   - H₀: No effect (what we try to reject)</a:t>
            </a:r>
          </a:p>
          <a:p>
            <a:pPr>
              <a:spcAft>
                <a:spcPts val="800"/>
              </a:spcAft>
              <a:defRPr sz="2000"/>
            </a:pPr>
            <a:r>
              <a:t>   - H₁: There is an effect (what we want to support)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P-VALUE:</a:t>
            </a:r>
          </a:p>
          <a:p>
            <a:pPr>
              <a:spcAft>
                <a:spcPts val="800"/>
              </a:spcAft>
              <a:defRPr sz="2000"/>
            </a:pPr>
            <a:r>
              <a:t>   - Small p (&lt; 0.05): Reject H₀, result is significant</a:t>
            </a:r>
          </a:p>
          <a:p>
            <a:pPr>
              <a:spcAft>
                <a:spcPts val="800"/>
              </a:spcAft>
              <a:defRPr sz="2000"/>
            </a:pPr>
            <a:r>
              <a:t>   - Large p (≥ 0.05): Fail to reject H₀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ERRORS:</a:t>
            </a:r>
          </a:p>
          <a:p>
            <a:pPr>
              <a:spcAft>
                <a:spcPts val="800"/>
              </a:spcAft>
              <a:defRPr sz="2000"/>
            </a:pPr>
            <a:r>
              <a:t>   - Type I: False positive (reject true H₀)</a:t>
            </a:r>
          </a:p>
          <a:p>
            <a:pPr>
              <a:spcAft>
                <a:spcPts val="800"/>
              </a:spcAft>
              <a:defRPr sz="2000"/>
            </a:pPr>
            <a:r>
              <a:t>   - Type II: False negative (keep false H₀)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Always consider practical significance too!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Coming Up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Week 7: T-Tests and ANOVA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 will learn:</a:t>
            </a:r>
          </a:p>
          <a:p>
            <a:pPr>
              <a:spcAft>
                <a:spcPts val="800"/>
              </a:spcAft>
              <a:defRPr sz="2000"/>
            </a:pPr>
            <a:r>
              <a:t>   - Independent samples t-test</a:t>
            </a:r>
          </a:p>
          <a:p>
            <a:pPr>
              <a:spcAft>
                <a:spcPts val="800"/>
              </a:spcAft>
              <a:defRPr sz="2000"/>
            </a:pPr>
            <a:r>
              <a:t>   - Paired samples t-test</a:t>
            </a:r>
          </a:p>
          <a:p>
            <a:pPr>
              <a:spcAft>
                <a:spcPts val="800"/>
              </a:spcAft>
              <a:defRPr sz="2000"/>
            </a:pPr>
            <a:r>
              <a:t>   - One-way ANOVA</a:t>
            </a:r>
          </a:p>
          <a:p>
            <a:pPr>
              <a:spcAft>
                <a:spcPts val="800"/>
              </a:spcAft>
              <a:defRPr sz="2000"/>
            </a:pPr>
            <a:r>
              <a:t>   - When to use each 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week's assignments:</a:t>
            </a:r>
          </a:p>
          <a:p>
            <a:pPr>
              <a:spcAft>
                <a:spcPts val="800"/>
              </a:spcAft>
              <a:defRPr sz="2000"/>
            </a:pPr>
            <a:r>
              <a:t>   - Discussion #6: Interpreting Statistical Significance</a:t>
            </a:r>
          </a:p>
          <a:p>
            <a:pPr>
              <a:spcAft>
                <a:spcPts val="800"/>
              </a:spcAft>
              <a:defRPr sz="2000"/>
            </a:pPr>
            <a:r>
              <a:t>   - Quiz #6: Hypothesis Testing</a:t>
            </a:r>
          </a:p>
          <a:p>
            <a:pPr>
              <a:spcAft>
                <a:spcPts val="800"/>
              </a:spcAft>
              <a:defRPr sz="2000"/>
            </a:pPr>
            <a:r>
              <a:t>   - Assignment #2: Statistical Analysis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