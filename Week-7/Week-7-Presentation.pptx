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Week 7: T-Tests and ANOVA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EDHE 5330 - Statistics for Higher Education</a:t>
            </a:r>
            <a:br/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By the end of this week, you will be able to: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Conduct independent samples t-tests</a:t>
            </a:r>
          </a:p>
          <a:p>
            <a:pPr>
              <a:spcAft>
                <a:spcPts val="800"/>
              </a:spcAft>
              <a:defRPr sz="2000"/>
            </a:pPr>
            <a:r>
              <a:t>2. Conduct paired samples t-tests</a:t>
            </a:r>
          </a:p>
          <a:p>
            <a:pPr>
              <a:spcAft>
                <a:spcPts val="800"/>
              </a:spcAft>
              <a:defRPr sz="2000"/>
            </a:pPr>
            <a:r>
              <a:t>3. Conduct one-way ANOVA</a:t>
            </a:r>
          </a:p>
          <a:p>
            <a:pPr>
              <a:spcAft>
                <a:spcPts val="800"/>
              </a:spcAft>
              <a:defRPr sz="2000"/>
            </a:pPr>
            <a:r>
              <a:t>4. Choose the appropriate test for your research question</a:t>
            </a:r>
          </a:p>
          <a:p>
            <a:pPr>
              <a:spcAft>
                <a:spcPts val="800"/>
              </a:spcAft>
              <a:defRPr sz="2000"/>
            </a:pPr>
            <a:r>
              <a:t>5. Interpret results and effect sizes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Comparing Group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Often we want to compare averages between groups: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- Do males and females differ in GPA?</a:t>
            </a:r>
          </a:p>
          <a:p>
            <a:pPr>
              <a:spcAft>
                <a:spcPts val="800"/>
              </a:spcAft>
              <a:defRPr sz="2000"/>
            </a:pPr>
            <a:r>
              <a:t>   - Is there a difference before vs. after an intervention?</a:t>
            </a:r>
          </a:p>
          <a:p>
            <a:pPr>
              <a:spcAft>
                <a:spcPts val="800"/>
              </a:spcAft>
              <a:defRPr sz="2000"/>
            </a:pPr>
            <a:r>
              <a:t>   - Do freshmen, sophomores, juniors, seniors differ?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test we use depends on:</a:t>
            </a:r>
          </a:p>
          <a:p>
            <a:pPr>
              <a:spcAft>
                <a:spcPts val="800"/>
              </a:spcAft>
              <a:defRPr sz="2000"/>
            </a:pPr>
            <a:r>
              <a:t>   - Number of groups (2 or more)</a:t>
            </a:r>
          </a:p>
          <a:p>
            <a:pPr>
              <a:spcAft>
                <a:spcPts val="800"/>
              </a:spcAft>
              <a:defRPr sz="2000"/>
            </a:pPr>
            <a:r>
              <a:t>   - Whether groups are independent or related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Choosing the Right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COMPARING 2 GROUPS:</a:t>
            </a:r>
          </a:p>
          <a:p>
            <a:pPr>
              <a:spcAft>
                <a:spcPts val="800"/>
              </a:spcAft>
              <a:defRPr sz="2000"/>
            </a:pPr>
            <a:r>
              <a:t>   Independent groups → Independent Samples t-test</a:t>
            </a:r>
          </a:p>
          <a:p>
            <a:pPr>
              <a:spcAft>
                <a:spcPts val="800"/>
              </a:spcAft>
              <a:defRPr sz="2000"/>
            </a:pPr>
            <a:r>
              <a:t>   Same people, two times → Paired Samples t-test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COMPARING 3+ GROUPS:</a:t>
            </a:r>
          </a:p>
          <a:p>
            <a:pPr>
              <a:spcAft>
                <a:spcPts val="800"/>
              </a:spcAft>
              <a:defRPr sz="2000"/>
            </a:pPr>
            <a:r>
              <a:t>   Independent groups → One-Way ANOVA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Key question: Are the observations INDEPENDENT</a:t>
            </a:r>
          </a:p>
          <a:p>
            <a:pPr>
              <a:spcAft>
                <a:spcPts val="800"/>
              </a:spcAft>
              <a:defRPr sz="2000"/>
            </a:pPr>
            <a:r>
              <a:t>or PAIRED/RELATED?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Independent Samples t-Test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Use when: Comparing means of TWO INDEPENDENT groups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Examples:</a:t>
            </a:r>
          </a:p>
          <a:p>
            <a:pPr>
              <a:spcAft>
                <a:spcPts val="800"/>
              </a:spcAft>
              <a:defRPr sz="2000"/>
            </a:pPr>
            <a:r>
              <a:t>   - Male vs. female GPA</a:t>
            </a:r>
          </a:p>
          <a:p>
            <a:pPr>
              <a:spcAft>
                <a:spcPts val="800"/>
              </a:spcAft>
              <a:defRPr sz="2000"/>
            </a:pPr>
            <a:r>
              <a:t>   - Treatment group vs. control group</a:t>
            </a:r>
          </a:p>
          <a:p>
            <a:pPr>
              <a:spcAft>
                <a:spcPts val="800"/>
              </a:spcAft>
              <a:defRPr sz="2000"/>
            </a:pPr>
            <a:r>
              <a:t>   - Online vs. in-person class performance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Hypotheses:</a:t>
            </a:r>
          </a:p>
          <a:p>
            <a:pPr>
              <a:spcAft>
                <a:spcPts val="800"/>
              </a:spcAft>
              <a:defRPr sz="2000"/>
            </a:pPr>
            <a:r>
              <a:t>   H₀: μ₁ = μ₂ (means are equal)</a:t>
            </a:r>
          </a:p>
          <a:p>
            <a:pPr>
              <a:spcAft>
                <a:spcPts val="800"/>
              </a:spcAft>
              <a:defRPr sz="2000"/>
            </a:pPr>
            <a:r>
              <a:t>   H₁: μ₁ ≠ μ₂ (means are different)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Independent Samples t-Test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Research: Do online students score differently than</a:t>
            </a:r>
          </a:p>
          <a:p>
            <a:pPr>
              <a:spcAft>
                <a:spcPts val="800"/>
              </a:spcAft>
              <a:defRPr sz="2000"/>
            </a:pPr>
            <a:r>
              <a:t>in-person students on the final exam?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Data:</a:t>
            </a:r>
          </a:p>
          <a:p>
            <a:pPr>
              <a:spcAft>
                <a:spcPts val="800"/>
              </a:spcAft>
              <a:defRPr sz="2000"/>
            </a:pPr>
            <a:r>
              <a:t>   Online (n=30): Mean = 78, SD = 12</a:t>
            </a:r>
          </a:p>
          <a:p>
            <a:pPr>
              <a:spcAft>
                <a:spcPts val="800"/>
              </a:spcAft>
              <a:defRPr sz="2000"/>
            </a:pPr>
            <a:r>
              <a:t>   In-person (n=35): Mean = 82, SD = 10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Results: t = -1.52, p = 0.134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Decision: p (0.134) &gt; α (0.05) → Fail to reject H₀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Conclusion: No significant difference in exam scores</a:t>
            </a:r>
          </a:p>
          <a:p>
            <a:pPr>
              <a:spcAft>
                <a:spcPts val="800"/>
              </a:spcAft>
              <a:defRPr sz="2000"/>
            </a:pPr>
            <a:r>
              <a:t>between online and in-person students.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Paired Samples t-Test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Use when: Comparing means for THE SAME people at two times</a:t>
            </a:r>
          </a:p>
          <a:p>
            <a:pPr>
              <a:spcAft>
                <a:spcPts val="800"/>
              </a:spcAft>
              <a:defRPr sz="2000"/>
            </a:pPr>
            <a:r>
              <a:t>or matched pairs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Examples:</a:t>
            </a:r>
          </a:p>
          <a:p>
            <a:pPr>
              <a:spcAft>
                <a:spcPts val="800"/>
              </a:spcAft>
              <a:defRPr sz="2000"/>
            </a:pPr>
            <a:r>
              <a:t>   - Pre-test vs. post-test scores</a:t>
            </a:r>
          </a:p>
          <a:p>
            <a:pPr>
              <a:spcAft>
                <a:spcPts val="800"/>
              </a:spcAft>
              <a:defRPr sz="2000"/>
            </a:pPr>
            <a:r>
              <a:t>   - Beginning vs. end of semester GPA</a:t>
            </a:r>
          </a:p>
          <a:p>
            <a:pPr>
              <a:spcAft>
                <a:spcPts val="800"/>
              </a:spcAft>
              <a:defRPr sz="2000"/>
            </a:pPr>
            <a:r>
              <a:t>   - Before vs. after intervention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Hypotheses:</a:t>
            </a:r>
          </a:p>
          <a:p>
            <a:pPr>
              <a:spcAft>
                <a:spcPts val="800"/>
              </a:spcAft>
              <a:defRPr sz="2000"/>
            </a:pPr>
            <a:r>
              <a:t>   H₀: μ_difference = 0 (no change)</a:t>
            </a:r>
          </a:p>
          <a:p>
            <a:pPr>
              <a:spcAft>
                <a:spcPts val="800"/>
              </a:spcAft>
              <a:defRPr sz="2000"/>
            </a:pPr>
            <a:r>
              <a:t>   H₁: μ_difference ≠ 0 (there is change)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Paired Samples t-Test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Research: Does a study skills workshop improve GPA?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Data: 25 students measured before and after workshop</a:t>
            </a:r>
          </a:p>
          <a:p>
            <a:pPr>
              <a:spcAft>
                <a:spcPts val="800"/>
              </a:spcAft>
              <a:defRPr sz="2000"/>
            </a:pPr>
            <a:r>
              <a:t>   Before: Mean = 2.5</a:t>
            </a:r>
          </a:p>
          <a:p>
            <a:pPr>
              <a:spcAft>
                <a:spcPts val="800"/>
              </a:spcAft>
              <a:defRPr sz="2000"/>
            </a:pPr>
            <a:r>
              <a:t>   After: Mean = 2.8</a:t>
            </a:r>
          </a:p>
          <a:p>
            <a:pPr>
              <a:spcAft>
                <a:spcPts val="800"/>
              </a:spcAft>
              <a:defRPr sz="2000"/>
            </a:pPr>
            <a:r>
              <a:t>   Mean difference = 0.3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Results: t = 3.45, p = 0.002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Decision: p (0.002) &lt; α (0.05) → Reject H₀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Conclusion: GPA significantly increased after the workshop.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One-Way ANOVA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Use when: Comparing means of THREE OR MORE groups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ANOVA = Analysis of Variance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Examples:</a:t>
            </a:r>
          </a:p>
          <a:p>
            <a:pPr>
              <a:spcAft>
                <a:spcPts val="800"/>
              </a:spcAft>
              <a:defRPr sz="2000"/>
            </a:pPr>
            <a:r>
              <a:t>   - GPA by class standing (Fr, So, Jr, Sr)</a:t>
            </a:r>
          </a:p>
          <a:p>
            <a:pPr>
              <a:spcAft>
                <a:spcPts val="800"/>
              </a:spcAft>
              <a:defRPr sz="2000"/>
            </a:pPr>
            <a:r>
              <a:t>   - Satisfaction by department (5 departments)</a:t>
            </a:r>
          </a:p>
          <a:p>
            <a:pPr>
              <a:spcAft>
                <a:spcPts val="800"/>
              </a:spcAft>
              <a:defRPr sz="2000"/>
            </a:pPr>
            <a:r>
              <a:t>   - Test scores by teaching method (3 methods)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Hypotheses:</a:t>
            </a:r>
          </a:p>
          <a:p>
            <a:pPr>
              <a:spcAft>
                <a:spcPts val="800"/>
              </a:spcAft>
              <a:defRPr sz="2000"/>
            </a:pPr>
            <a:r>
              <a:t>   H₀: μ₁ = μ₂ = μ₃ = ... (all means equal)</a:t>
            </a:r>
          </a:p>
          <a:p>
            <a:pPr>
              <a:spcAft>
                <a:spcPts val="800"/>
              </a:spcAft>
              <a:defRPr sz="2000"/>
            </a:pPr>
            <a:r>
              <a:t>   H₁: At least one mean is different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One-Way ANOVA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Research: Does GPA differ by class standing?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Data:</a:t>
            </a:r>
          </a:p>
          <a:p>
            <a:pPr>
              <a:spcAft>
                <a:spcPts val="800"/>
              </a:spcAft>
              <a:defRPr sz="2000"/>
            </a:pPr>
            <a:r>
              <a:t>   Freshmen (n=50): Mean = 2.6</a:t>
            </a:r>
          </a:p>
          <a:p>
            <a:pPr>
              <a:spcAft>
                <a:spcPts val="800"/>
              </a:spcAft>
              <a:defRPr sz="2000"/>
            </a:pPr>
            <a:r>
              <a:t>   Sophomores (n=45): Mean = 2.8</a:t>
            </a:r>
          </a:p>
          <a:p>
            <a:pPr>
              <a:spcAft>
                <a:spcPts val="800"/>
              </a:spcAft>
              <a:defRPr sz="2000"/>
            </a:pPr>
            <a:r>
              <a:t>   Juniors (n=40): Mean = 3.0</a:t>
            </a:r>
          </a:p>
          <a:p>
            <a:pPr>
              <a:spcAft>
                <a:spcPts val="800"/>
              </a:spcAft>
              <a:defRPr sz="2000"/>
            </a:pPr>
            <a:r>
              <a:t>   Seniors (n=35): Mean = 3.2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Results: F = 8.45, p = 0.001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Decision: p (0.001) &lt; α (0.05) → Reject H₀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Conclusion: GPA differs significantly by class standing.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Post-Hoc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When ANOVA is significant, we know groups differ...</a:t>
            </a:r>
          </a:p>
          <a:p>
            <a:pPr>
              <a:spcAft>
                <a:spcPts val="800"/>
              </a:spcAft>
              <a:defRPr sz="2000"/>
            </a:pPr>
            <a:r>
              <a:t>But WHICH groups differ from which?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POST-HOC TESTS: Compare all pairs of groups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Common post-hoc tests:</a:t>
            </a:r>
          </a:p>
          <a:p>
            <a:pPr>
              <a:spcAft>
                <a:spcPts val="800"/>
              </a:spcAft>
              <a:defRPr sz="2000"/>
            </a:pPr>
            <a:r>
              <a:t>   - Tukey's HSD (most common)</a:t>
            </a:r>
          </a:p>
          <a:p>
            <a:pPr>
              <a:spcAft>
                <a:spcPts val="800"/>
              </a:spcAft>
              <a:defRPr sz="2000"/>
            </a:pPr>
            <a:r>
              <a:t>   - Bonferroni</a:t>
            </a:r>
          </a:p>
          <a:p>
            <a:pPr>
              <a:spcAft>
                <a:spcPts val="800"/>
              </a:spcAft>
              <a:defRPr sz="2000"/>
            </a:pPr>
            <a:r>
              <a:t>   - Scheffe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These control for multiple comparisons to reduce</a:t>
            </a:r>
          </a:p>
          <a:p>
            <a:pPr>
              <a:spcAft>
                <a:spcPts val="800"/>
              </a:spcAft>
              <a:defRPr sz="2000"/>
            </a:pPr>
            <a:r>
              <a:t>the chance of false positives.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Effect Size: Cohen's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Statistical significance doesn't tell us HOW BIG the effect is.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COHEN'S d: Measures effect size for t-tests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d = (Mean₁ - Mean₂) / SD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Interpretation:</a:t>
            </a:r>
          </a:p>
          <a:p>
            <a:pPr>
              <a:spcAft>
                <a:spcPts val="800"/>
              </a:spcAft>
              <a:defRPr sz="2000"/>
            </a:pPr>
            <a:r>
              <a:t>   d = 0.2  Small effect</a:t>
            </a:r>
          </a:p>
          <a:p>
            <a:pPr>
              <a:spcAft>
                <a:spcPts val="800"/>
              </a:spcAft>
              <a:defRPr sz="2000"/>
            </a:pPr>
            <a:r>
              <a:t>   d = 0.5  Medium effect</a:t>
            </a:r>
          </a:p>
          <a:p>
            <a:pPr>
              <a:spcAft>
                <a:spcPts val="800"/>
              </a:spcAft>
              <a:defRPr sz="2000"/>
            </a:pPr>
            <a:r>
              <a:t>   d = 0.8  Large effect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Always report effect size alongside p-value!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Effect Size: Eta-Squared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For ANOVA, we use ETA-SQUARED (η²)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   η² = SS_between / SS_total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Interpretation: % of variance explained by group membership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Guidelines:</a:t>
            </a:r>
          </a:p>
          <a:p>
            <a:pPr>
              <a:spcAft>
                <a:spcPts val="800"/>
              </a:spcAft>
              <a:defRPr sz="2000"/>
            </a:pPr>
            <a:r>
              <a:t>   η² = 0.01  Small effect</a:t>
            </a:r>
          </a:p>
          <a:p>
            <a:pPr>
              <a:spcAft>
                <a:spcPts val="800"/>
              </a:spcAft>
              <a:defRPr sz="2000"/>
            </a:pPr>
            <a:r>
              <a:t>   η² = 0.06  Medium effect</a:t>
            </a:r>
          </a:p>
          <a:p>
            <a:pPr>
              <a:spcAft>
                <a:spcPts val="800"/>
              </a:spcAft>
              <a:defRPr sz="2000"/>
            </a:pPr>
            <a:r>
              <a:t>   η² = 0.14  Large effect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Assumptions to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Before running these tests, check: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NORMALITY: Data is approximately normally distributed</a:t>
            </a:r>
          </a:p>
          <a:p>
            <a:pPr>
              <a:spcAft>
                <a:spcPts val="800"/>
              </a:spcAft>
              <a:defRPr sz="2000"/>
            </a:pPr>
            <a:r>
              <a:t>   - Look at histograms, check skewness</a:t>
            </a:r>
          </a:p>
          <a:p>
            <a:pPr>
              <a:spcAft>
                <a:spcPts val="800"/>
              </a:spcAft>
              <a:defRPr sz="2000"/>
            </a:pPr>
            <a:r>
              <a:t>   - With large samples (n &gt; 30), less critical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2. HOMOGENEITY OF VARIANCE: Groups have similar variability</a:t>
            </a:r>
          </a:p>
          <a:p>
            <a:pPr>
              <a:spcAft>
                <a:spcPts val="800"/>
              </a:spcAft>
              <a:defRPr sz="2000"/>
            </a:pPr>
            <a:r>
              <a:t>   - Use Levene's test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3. INDEPENDENCE: Observations are independent</a:t>
            </a:r>
          </a:p>
          <a:p>
            <a:pPr>
              <a:spcAft>
                <a:spcPts val="800"/>
              </a:spcAft>
              <a:defRPr sz="2000"/>
            </a:pPr>
            <a:r>
              <a:t>   - Depends on study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Practice: Which Test?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Which test would you use?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Comparing math scores between 3 different schools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2. Comparing anxiety levels before and after finals week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3. Comparing satisfaction between commuters and residents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(Think about it before the next slide!)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Comparing math scores between 3 different schools</a:t>
            </a:r>
          </a:p>
          <a:p>
            <a:pPr>
              <a:spcAft>
                <a:spcPts val="800"/>
              </a:spcAft>
              <a:defRPr sz="2000"/>
            </a:pPr>
            <a:r>
              <a:t>   → One-Way ANOVA (3 independent groups)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2. Comparing anxiety before and after finals week</a:t>
            </a:r>
          </a:p>
          <a:p>
            <a:pPr>
              <a:spcAft>
                <a:spcPts val="800"/>
              </a:spcAft>
              <a:defRPr sz="2000"/>
            </a:pPr>
            <a:r>
              <a:t>   → Paired Samples t-test (same people, 2 times)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3. Comparing satisfaction: commuters vs. residents</a:t>
            </a:r>
          </a:p>
          <a:p>
            <a:pPr>
              <a:spcAft>
                <a:spcPts val="800"/>
              </a:spcAft>
              <a:defRPr sz="2000"/>
            </a:pPr>
            <a:r>
              <a:t>   → Independent Samples t-test (2 independent groups)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Reporting Results in APA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Independent t-test:</a:t>
            </a:r>
          </a:p>
          <a:p>
            <a:pPr>
              <a:spcAft>
                <a:spcPts val="800"/>
              </a:spcAft>
              <a:defRPr sz="2000"/>
            </a:pPr>
            <a:r>
              <a:t>   "There was a significant difference in scores</a:t>
            </a:r>
          </a:p>
          <a:p>
            <a:pPr>
              <a:spcAft>
                <a:spcPts val="800"/>
              </a:spcAft>
              <a:defRPr sz="2000"/>
            </a:pPr>
            <a:r>
              <a:t>   between Group A (M = 82, SD = 10) and Group B</a:t>
            </a:r>
          </a:p>
          <a:p>
            <a:pPr>
              <a:spcAft>
                <a:spcPts val="800"/>
              </a:spcAft>
              <a:defRPr sz="2000"/>
            </a:pPr>
            <a:r>
              <a:t>   (M = 75, SD = 12), t(58) = 2.45, p = .017, d = 0.63."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ANOVA:</a:t>
            </a:r>
          </a:p>
          <a:p>
            <a:pPr>
              <a:spcAft>
                <a:spcPts val="800"/>
              </a:spcAft>
              <a:defRPr sz="2000"/>
            </a:pPr>
            <a:r>
              <a:t>   "There was a significant effect of class standing</a:t>
            </a:r>
          </a:p>
          <a:p>
            <a:pPr>
              <a:spcAft>
                <a:spcPts val="800"/>
              </a:spcAft>
              <a:defRPr sz="2000"/>
            </a:pPr>
            <a:r>
              <a:t>   on GPA, F(3, 166) = 8.45, p &lt; .001, η² = .13."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2 INDEPENDENT GROUPS → Independent t-test</a:t>
            </a:r>
          </a:p>
          <a:p>
            <a:pPr>
              <a:spcAft>
                <a:spcPts val="800"/>
              </a:spcAft>
              <a:defRPr sz="2000"/>
            </a:pPr>
            <a:r>
              <a:t>2 RELATED MEASUREMENTS → Paired t-test</a:t>
            </a:r>
          </a:p>
          <a:p>
            <a:pPr>
              <a:spcAft>
                <a:spcPts val="800"/>
              </a:spcAft>
              <a:defRPr sz="2000"/>
            </a:pPr>
            <a:r>
              <a:t>3+ INDEPENDENT GROUPS → One-Way ANOVA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After significant ANOVA, use post-hoc tests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Always report:</a:t>
            </a:r>
          </a:p>
          <a:p>
            <a:pPr>
              <a:spcAft>
                <a:spcPts val="800"/>
              </a:spcAft>
              <a:defRPr sz="2000"/>
            </a:pPr>
            <a:r>
              <a:t>   - Test statistic (t or F)</a:t>
            </a:r>
          </a:p>
          <a:p>
            <a:pPr>
              <a:spcAft>
                <a:spcPts val="800"/>
              </a:spcAft>
              <a:defRPr sz="2000"/>
            </a:pPr>
            <a:r>
              <a:t>   - Degrees of freedom</a:t>
            </a:r>
          </a:p>
          <a:p>
            <a:pPr>
              <a:spcAft>
                <a:spcPts val="800"/>
              </a:spcAft>
              <a:defRPr sz="2000"/>
            </a:pPr>
            <a:r>
              <a:t>   - P-value</a:t>
            </a:r>
          </a:p>
          <a:p>
            <a:pPr>
              <a:spcAft>
                <a:spcPts val="800"/>
              </a:spcAft>
              <a:defRPr sz="2000"/>
            </a:pPr>
            <a:r>
              <a:t>   - Effect size (d or η²)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Coming Up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Week 8: Course Wrap-Up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Final week activities:</a:t>
            </a:r>
          </a:p>
          <a:p>
            <a:pPr>
              <a:spcAft>
                <a:spcPts val="800"/>
              </a:spcAft>
              <a:defRPr sz="2000"/>
            </a:pPr>
            <a:r>
              <a:t>   - Course review</a:t>
            </a:r>
          </a:p>
          <a:p>
            <a:pPr>
              <a:spcAft>
                <a:spcPts val="800"/>
              </a:spcAft>
              <a:defRPr sz="2000"/>
            </a:pPr>
            <a:r>
              <a:t>   - Final project presentations</a:t>
            </a:r>
          </a:p>
          <a:p>
            <a:pPr>
              <a:spcAft>
                <a:spcPts val="800"/>
              </a:spcAft>
              <a:defRPr sz="2000"/>
            </a:pPr>
            <a:r>
              <a:t>   - Course reflection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This week's assignments:</a:t>
            </a:r>
          </a:p>
          <a:p>
            <a:pPr>
              <a:spcAft>
                <a:spcPts val="800"/>
              </a:spcAft>
              <a:defRPr sz="2000"/>
            </a:pPr>
            <a:r>
              <a:t>   - Discussion #7: Choosing the Right Test</a:t>
            </a:r>
          </a:p>
          <a:p>
            <a:pPr>
              <a:spcAft>
                <a:spcPts val="800"/>
              </a:spcAft>
              <a:defRPr sz="2000"/>
            </a:pPr>
            <a:r>
              <a:t>   - Assignment #3: Group Comparison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