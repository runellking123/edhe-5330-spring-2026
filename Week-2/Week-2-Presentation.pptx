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2: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Calculate measures of central tendency (mean, median, mode)</a:t>
            </a:r>
          </a:p>
          <a:p>
            <a:pPr>
              <a:spcAft>
                <a:spcPts val="800"/>
              </a:spcAft>
              <a:defRPr sz="2000"/>
            </a:pPr>
            <a:r>
              <a:t>2. Calculate measures of variability (range, variance, std dev)</a:t>
            </a:r>
          </a:p>
          <a:p>
            <a:pPr>
              <a:spcAft>
                <a:spcPts val="800"/>
              </a:spcAft>
              <a:defRPr sz="2000"/>
            </a:pPr>
            <a:r>
              <a:t>3. Know when to use each measure</a:t>
            </a:r>
          </a:p>
          <a:p>
            <a:pPr>
              <a:spcAft>
                <a:spcPts val="800"/>
              </a:spcAft>
              <a:defRPr sz="2000"/>
            </a:pPr>
            <a:r>
              <a:t>4. Create and interpret frequency distributions</a:t>
            </a:r>
          </a:p>
          <a:p>
            <a:pPr>
              <a:spcAft>
                <a:spcPts val="800"/>
              </a:spcAft>
              <a:defRPr sz="2000"/>
            </a:pPr>
            <a:r>
              <a:t>5. Create basic charts and graphs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are Descriptive Statistics?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Descriptive statistics SUMMARIZE and DESCRIBE data.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They help answer: "What does this data look like?"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Two main categories: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CENTRAL TENDENCY - Where is the "center" of the data?</a:t>
            </a:r>
          </a:p>
          <a:p>
            <a:pPr>
              <a:spcAft>
                <a:spcPts val="800"/>
              </a:spcAft>
              <a:defRPr sz="2000"/>
            </a:pPr>
            <a:r>
              <a:t>   (Mean, Median, Mode)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VARIABILITY - How spread out is the data?</a:t>
            </a:r>
          </a:p>
          <a:p>
            <a:pPr>
              <a:spcAft>
                <a:spcPts val="800"/>
              </a:spcAft>
              <a:defRPr sz="2000"/>
            </a:pPr>
            <a:r>
              <a:t>   (Range, Variance, Standard Deviation)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Our Practice Dataset: Student Test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Throughout this lesson, we'll use this dataset: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10 students took a statistics exam (out of 100 points):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Student scores: 72, 85, 90, 78, 85, 92, 68, 85, 76, 89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Let's learn how to summarize this data!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#1: The Mean (Average)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MEAN is what most people call the "average"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Formula: Mean = Sum of all values / Number of values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          Σx</a:t>
            </a:r>
          </a:p>
          <a:p>
            <a:pPr>
              <a:spcAft>
                <a:spcPts val="800"/>
              </a:spcAft>
              <a:defRPr sz="2000"/>
            </a:pPr>
            <a:r>
              <a:t>    Mean = ―――― </a:t>
            </a:r>
          </a:p>
          <a:p>
            <a:pPr>
              <a:spcAft>
                <a:spcPts val="800"/>
              </a:spcAft>
              <a:defRPr sz="2000"/>
            </a:pPr>
            <a:r>
              <a:t>              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When to use: When data is fairly symmetric without extreme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Calculating the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72, 85, 90, 78, 85, 92, 68, 85, 76, 89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Add all values together</a:t>
            </a:r>
          </a:p>
          <a:p>
            <a:pPr>
              <a:spcAft>
                <a:spcPts val="800"/>
              </a:spcAft>
              <a:defRPr sz="2000"/>
            </a:pPr>
            <a:r>
              <a:t>   72 + 85 + 90 + 78 + 85 + 92 + 68 + 85 + 76 + 89 = 820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Count how many values (n)</a:t>
            </a:r>
          </a:p>
          <a:p>
            <a:pPr>
              <a:spcAft>
                <a:spcPts val="800"/>
              </a:spcAft>
              <a:defRPr sz="2000"/>
            </a:pPr>
            <a:r>
              <a:t>   n = 10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Divide the sum by n</a:t>
            </a:r>
          </a:p>
          <a:p>
            <a:pPr>
              <a:spcAft>
                <a:spcPts val="800"/>
              </a:spcAft>
              <a:defRPr sz="2000"/>
            </a:pPr>
            <a:r>
              <a:t>   Mean = 820 / 10 = 82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average score is 82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#2: The Median (Middle Value)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MEDIAN is the middle value when data is in order.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Steps to find the median:</a:t>
            </a:r>
          </a:p>
          <a:p>
            <a:pPr>
              <a:spcAft>
                <a:spcPts val="800"/>
              </a:spcAft>
              <a:defRPr sz="2000"/>
            </a:pPr>
            <a:r>
              <a:t>   1. Put all values in order (lowest to highest)</a:t>
            </a:r>
          </a:p>
          <a:p>
            <a:pPr>
              <a:spcAft>
                <a:spcPts val="800"/>
              </a:spcAft>
              <a:defRPr sz="2000"/>
            </a:pPr>
            <a:r>
              <a:t>   2. Find the middle 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If odd number of values: Middle value is the median</a:t>
            </a:r>
          </a:p>
          <a:p>
            <a:pPr>
              <a:spcAft>
                <a:spcPts val="800"/>
              </a:spcAft>
              <a:defRPr sz="2000"/>
            </a:pPr>
            <a:r>
              <a:t>If even number of values: Average the two middle values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When to use: When data has outliers (extreme values)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Calculating the Median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72, 85, 90, 78, 85, 92, 68, 85, 76, 89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Put in order (lowest to highest)</a:t>
            </a:r>
          </a:p>
          <a:p>
            <a:pPr>
              <a:spcAft>
                <a:spcPts val="800"/>
              </a:spcAft>
              <a:defRPr sz="2000"/>
            </a:pPr>
            <a:r>
              <a:t>   68, 72, 76, 78, 85, 85, 85, 89, 90, 92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We have 10 values (even), so find the two middle values</a:t>
            </a:r>
          </a:p>
          <a:p>
            <a:pPr>
              <a:spcAft>
                <a:spcPts val="800"/>
              </a:spcAft>
              <a:defRPr sz="2000"/>
            </a:pPr>
            <a:r>
              <a:t>   Position 5 = 85 and Position 6 = 85</a:t>
            </a:r>
          </a:p>
          <a:p>
            <a:pPr>
              <a:spcAft>
                <a:spcPts val="800"/>
              </a:spcAft>
              <a:defRPr sz="2000"/>
            </a:pPr>
            <a:r>
              <a:t>        ↓    ↓</a:t>
            </a:r>
          </a:p>
          <a:p>
            <a:pPr>
              <a:spcAft>
                <a:spcPts val="800"/>
              </a:spcAft>
              <a:defRPr sz="2000"/>
            </a:pPr>
            <a:r>
              <a:t>   68, 72, 76, 78, [85, 85], 85, 89, 90, 92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Average the two middle values</a:t>
            </a:r>
          </a:p>
          <a:p>
            <a:pPr>
              <a:spcAft>
                <a:spcPts val="800"/>
              </a:spcAft>
              <a:defRPr sz="2000"/>
            </a:pPr>
            <a:r>
              <a:t>   Median = (85 + 85) / 2 = 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#3: The Mode (Most Frequent)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MODE is the value that appears most often.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How to find it: Count how many times each value appears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Possible outcomes:</a:t>
            </a:r>
          </a:p>
          <a:p>
            <a:pPr>
              <a:spcAft>
                <a:spcPts val="800"/>
              </a:spcAft>
              <a:defRPr sz="2000"/>
            </a:pPr>
            <a:r>
              <a:t>   - One mode (unimodal)</a:t>
            </a:r>
          </a:p>
          <a:p>
            <a:pPr>
              <a:spcAft>
                <a:spcPts val="800"/>
              </a:spcAft>
              <a:defRPr sz="2000"/>
            </a:pPr>
            <a:r>
              <a:t>   - Two modes (bimodal)</a:t>
            </a:r>
          </a:p>
          <a:p>
            <a:pPr>
              <a:spcAft>
                <a:spcPts val="800"/>
              </a:spcAft>
              <a:defRPr sz="2000"/>
            </a:pPr>
            <a:r>
              <a:t>   - Multiple modes (multimodal)</a:t>
            </a:r>
          </a:p>
          <a:p>
            <a:pPr>
              <a:spcAft>
                <a:spcPts val="800"/>
              </a:spcAft>
              <a:defRPr sz="2000"/>
            </a:pPr>
            <a:r>
              <a:t>   - No mode (all values appear same number of times)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When to use: For categorical data or finding the most common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Finding the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72, 85, 90, 78, 85, 92, 68, 85, 76, 89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Count how many times each value appears</a:t>
            </a:r>
          </a:p>
          <a:p>
            <a:pPr>
              <a:spcAft>
                <a:spcPts val="800"/>
              </a:spcAft>
              <a:defRPr sz="2000"/>
            </a:pPr>
            <a:r>
              <a:t>   68 → 1 time    85 → 3 times</a:t>
            </a:r>
          </a:p>
          <a:p>
            <a:pPr>
              <a:spcAft>
                <a:spcPts val="800"/>
              </a:spcAft>
              <a:defRPr sz="2000"/>
            </a:pPr>
            <a:r>
              <a:t>   72 → 1 time    89 → 1 time</a:t>
            </a:r>
          </a:p>
          <a:p>
            <a:pPr>
              <a:spcAft>
                <a:spcPts val="800"/>
              </a:spcAft>
              <a:defRPr sz="2000"/>
            </a:pPr>
            <a:r>
              <a:t>   76 → 1 time    90 → 1 time</a:t>
            </a:r>
          </a:p>
          <a:p>
            <a:pPr>
              <a:spcAft>
                <a:spcPts val="800"/>
              </a:spcAft>
              <a:defRPr sz="2000"/>
            </a:pPr>
            <a:r>
              <a:t>   78 → 1 time    92 → 1 time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Identify the value(s) that appear most often</a:t>
            </a:r>
          </a:p>
          <a:p>
            <a:pPr>
              <a:spcAft>
                <a:spcPts val="800"/>
              </a:spcAft>
              <a:defRPr sz="2000"/>
            </a:pPr>
            <a:r>
              <a:t>   85 appears 3 times (more than any other value)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Mode = 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Our Test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72, 85, 90, 78, 85, 92, 68, 85, 76, 89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Mean = 82 (the average)</a:t>
            </a:r>
          </a:p>
          <a:p>
            <a:pPr>
              <a:spcAft>
                <a:spcPts val="800"/>
              </a:spcAft>
              <a:defRPr sz="2000"/>
            </a:pPr>
            <a:r>
              <a:t>Median = 85 (the middle value)</a:t>
            </a:r>
          </a:p>
          <a:p>
            <a:pPr>
              <a:spcAft>
                <a:spcPts val="800"/>
              </a:spcAft>
              <a:defRPr sz="2000"/>
            </a:pPr>
            <a:r>
              <a:t>Mode = 85 (most frequent value)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All three measures tell us the "typical" score is around 82-85.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When they're similar, the data is fairly symmetric!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When the Mean Can Be Misleading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Imagine these 5 employee salaries at a small company: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$35,000  $40,000  $45,000  $50,000  $500,000 (CEO)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Mean = $134,000  (Seems high!)</a:t>
            </a:r>
          </a:p>
          <a:p>
            <a:pPr>
              <a:spcAft>
                <a:spcPts val="800"/>
              </a:spcAft>
              <a:defRPr sz="2000"/>
            </a:pPr>
            <a:r>
              <a:t>Median = $45,000  (More realistic)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CEO's salary is an OUTLIER - an extreme value that</a:t>
            </a:r>
          </a:p>
          <a:p>
            <a:pPr>
              <a:spcAft>
                <a:spcPts val="800"/>
              </a:spcAft>
              <a:defRPr sz="2000"/>
            </a:pPr>
            <a:r>
              <a:t>pulls the mean away from the typical value.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LESSON: Use median when outliers exist!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Calculate Mean, Median,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professor recorded these quiz scores (out of 20):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15, 18, 12, 18, 20, 16, 18, 14, 17, 12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Calculate:</a:t>
            </a:r>
          </a:p>
          <a:p>
            <a:pPr>
              <a:spcAft>
                <a:spcPts val="800"/>
              </a:spcAft>
              <a:defRPr sz="2000"/>
            </a:pPr>
            <a:r>
              <a:t>   1. Mean = ?</a:t>
            </a:r>
          </a:p>
          <a:p>
            <a:pPr>
              <a:spcAft>
                <a:spcPts val="800"/>
              </a:spcAft>
              <a:defRPr sz="2000"/>
            </a:pPr>
            <a:r>
              <a:t>   2. Median = ?</a:t>
            </a:r>
          </a:p>
          <a:p>
            <a:pPr>
              <a:spcAft>
                <a:spcPts val="800"/>
              </a:spcAft>
              <a:defRPr sz="2000"/>
            </a:pPr>
            <a:r>
              <a:t>   3. Mode = 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(Work it out before the next slide!)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15, 18, 12, 18, 20, 16, 18, 14, 17, 12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Mean: (15+18+12+18+20+16+18+14+17+12) / 10 = 160/10 = 16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Median: First, order the data:</a:t>
            </a:r>
          </a:p>
          <a:p>
            <a:pPr>
              <a:spcAft>
                <a:spcPts val="800"/>
              </a:spcAft>
              <a:defRPr sz="2000"/>
            </a:pPr>
            <a:r>
              <a:t>   12, 12, 14, 15, 16, 17, 18, 18, 18, 20</a:t>
            </a:r>
          </a:p>
          <a:p>
            <a:pPr>
              <a:spcAft>
                <a:spcPts val="800"/>
              </a:spcAft>
              <a:defRPr sz="2000"/>
            </a:pPr>
            <a:r>
              <a:t>   Middle values: 16 and 17</a:t>
            </a:r>
          </a:p>
          <a:p>
            <a:pPr>
              <a:spcAft>
                <a:spcPts val="800"/>
              </a:spcAft>
              <a:defRPr sz="2000"/>
            </a:pPr>
            <a:r>
              <a:t>   Median = (16 + 17) / 2 = 16.5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Mode: 18 appears 3 times (most frequent)</a:t>
            </a:r>
          </a:p>
          <a:p>
            <a:pPr>
              <a:spcAft>
                <a:spcPts val="800"/>
              </a:spcAft>
              <a:defRPr sz="2000"/>
            </a:pPr>
            <a:r>
              <a:t>   Mode =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Measures of Variability (Spread)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Central tendency tells us the "center" of data.</a:t>
            </a:r>
          </a:p>
          <a:p>
            <a:pPr>
              <a:spcAft>
                <a:spcPts val="800"/>
              </a:spcAft>
              <a:defRPr sz="2000"/>
            </a:pPr>
            <a:r>
              <a:t>But HOW SPREAD OUT is the data?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Two datasets can have the same mean but different spreads: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Dataset A: 78, 80, 82  (Mean = 80, tightly clustered)</a:t>
            </a:r>
          </a:p>
          <a:p>
            <a:pPr>
              <a:spcAft>
                <a:spcPts val="800"/>
              </a:spcAft>
              <a:defRPr sz="2000"/>
            </a:pPr>
            <a:r>
              <a:t>   Dataset B: 60, 80, 100 (Mean = 80, widely spread)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Variability measures: Range, Variance, Standard Deviation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#1: The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RANGE is the simplest measure of spread.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Formula: Range = Maximum value - Minimum 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Pros: Easy to calculate</a:t>
            </a:r>
          </a:p>
          <a:p>
            <a:pPr>
              <a:spcAft>
                <a:spcPts val="800"/>
              </a:spcAft>
              <a:defRPr sz="2000"/>
            </a:pPr>
            <a:r>
              <a:t>Cons: Only uses two values, ignores everything in between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Our test scores: 68, 72, 76, 78, 85, 85, 85, 89, 90, 92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Range = 92 - 68 = 24 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#2: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VARIANCE measures how far each value is from the mean,</a:t>
            </a:r>
          </a:p>
          <a:p>
            <a:pPr>
              <a:spcAft>
                <a:spcPts val="800"/>
              </a:spcAft>
              <a:defRPr sz="2000"/>
            </a:pPr>
            <a:r>
              <a:t>on average.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idea: If values are far from the mean → high variance</a:t>
            </a:r>
          </a:p>
          <a:p>
            <a:pPr>
              <a:spcAft>
                <a:spcPts val="800"/>
              </a:spcAft>
              <a:defRPr sz="2000"/>
            </a:pPr>
            <a:r>
              <a:t>         If values are close to the mean → low variance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 (for a sample):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      Σ(x - mean)²</a:t>
            </a:r>
          </a:p>
          <a:p>
            <a:pPr>
              <a:spcAft>
                <a:spcPts val="800"/>
              </a:spcAft>
              <a:defRPr sz="2000"/>
            </a:pPr>
            <a:r>
              <a:t>   s² = ――――――――――――</a:t>
            </a:r>
          </a:p>
          <a:p>
            <a:pPr>
              <a:spcAft>
                <a:spcPts val="800"/>
              </a:spcAft>
              <a:defRPr sz="2000"/>
            </a:pPr>
            <a:r>
              <a:t>            n - 1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Calculating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Simplified example: 4, 8, 6, 5, 7  (Mean = 6)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Find each deviation (value - mean)</a:t>
            </a:r>
          </a:p>
          <a:p>
            <a:pPr>
              <a:spcAft>
                <a:spcPts val="800"/>
              </a:spcAft>
              <a:defRPr sz="2000"/>
            </a:pPr>
            <a:r>
              <a:t>   4-6=-2, 8-6=2, 6-6=0, 5-6=-1, 7-6=1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Square each deviation</a:t>
            </a:r>
          </a:p>
          <a:p>
            <a:pPr>
              <a:spcAft>
                <a:spcPts val="800"/>
              </a:spcAft>
              <a:defRPr sz="2000"/>
            </a:pPr>
            <a:r>
              <a:t>   (-2)²=4, (2)²=4, (0)²=0, (-1)²=1, (1)²=1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Add squared deviations: 4+4+0+1+1 = 10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4: Divide by (n-1): 10 / 4 = 2.5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Variance = 2.5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Measure #3: Standard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STANDARD DEVIATION is the square root of variance.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Formula: s = √variance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Why use it? It's in the SAME UNITS as your data!</a:t>
            </a:r>
          </a:p>
          <a:p>
            <a:pPr>
              <a:spcAft>
                <a:spcPts val="800"/>
              </a:spcAft>
              <a:defRPr sz="2000"/>
            </a:pPr>
            <a:r>
              <a:t>   - Variance of test scores = 52.44 (points squared?)</a:t>
            </a:r>
          </a:p>
          <a:p>
            <a:pPr>
              <a:spcAft>
                <a:spcPts val="800"/>
              </a:spcAft>
              <a:defRPr sz="2000"/>
            </a:pPr>
            <a:r>
              <a:t>   - Std Dev of test scores = 7.24 points (makes sense!)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</a:t>
            </a:r>
          </a:p>
          <a:p>
            <a:pPr>
              <a:spcAft>
                <a:spcPts val="800"/>
              </a:spcAft>
              <a:defRPr sz="2000"/>
            </a:pPr>
            <a:r>
              <a:t>   - Small std dev = values are close to the mean</a:t>
            </a:r>
          </a:p>
          <a:p>
            <a:pPr>
              <a:spcAft>
                <a:spcPts val="800"/>
              </a:spcAft>
              <a:defRPr sz="2000"/>
            </a:pPr>
            <a:r>
              <a:t>   - Large std dev = values are spread out from the mean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Step-by-Step: Standard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From our previous example:</a:t>
            </a:r>
          </a:p>
          <a:p>
            <a:pPr>
              <a:spcAft>
                <a:spcPts val="800"/>
              </a:spcAft>
              <a:defRPr sz="2000"/>
            </a:pPr>
            <a:r>
              <a:t>   Data: 4, 8, 6, 5, 7</a:t>
            </a:r>
          </a:p>
          <a:p>
            <a:pPr>
              <a:spcAft>
                <a:spcPts val="800"/>
              </a:spcAft>
              <a:defRPr sz="2000"/>
            </a:pPr>
            <a:r>
              <a:t>   Mean = 6</a:t>
            </a:r>
          </a:p>
          <a:p>
            <a:pPr>
              <a:spcAft>
                <a:spcPts val="800"/>
              </a:spcAft>
              <a:defRPr sz="2000"/>
            </a:pPr>
            <a:r>
              <a:t>   Variance = 2.5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Standard Deviation = √2.5 = 1.58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 On average, values are about 1.58 units</a:t>
            </a:r>
          </a:p>
          <a:p>
            <a:pPr>
              <a:spcAft>
                <a:spcPts val="800"/>
              </a:spcAft>
              <a:defRPr sz="2000"/>
            </a:pPr>
            <a:r>
              <a:t>away from the mean of 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Complete Example: Test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Scores: 72, 85, 90, 78, 85, 92, 68, 85, 76, 89 (Mean = 82)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1: Deviations from mean (x - 82):</a:t>
            </a:r>
          </a:p>
          <a:p>
            <a:pPr>
              <a:spcAft>
                <a:spcPts val="800"/>
              </a:spcAft>
              <a:defRPr sz="2000"/>
            </a:pPr>
            <a:r>
              <a:t>   -10, 3, 8, -4, 3, 10, -14, 3, -6, 7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Squared deviations:</a:t>
            </a:r>
          </a:p>
          <a:p>
            <a:pPr>
              <a:spcAft>
                <a:spcPts val="800"/>
              </a:spcAft>
              <a:defRPr sz="2000"/>
            </a:pPr>
            <a:r>
              <a:t>   100, 9, 64, 16, 9, 100, 196, 9, 36, 49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Sum = 588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4: Variance = 588 / 9 = 65.33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5: Std Dev = √65.33 = 8.08 points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Frequency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FREQUENCY DISTRIBUTION shows how often each value</a:t>
            </a:r>
          </a:p>
          <a:p>
            <a:pPr>
              <a:spcAft>
                <a:spcPts val="800"/>
              </a:spcAft>
              <a:defRPr sz="2000"/>
            </a:pPr>
            <a:r>
              <a:t>(or range of values) occurs.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Letter grades from 30 students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Grade    Frequency    Percentage</a:t>
            </a:r>
          </a:p>
          <a:p>
            <a:pPr>
              <a:spcAft>
                <a:spcPts val="800"/>
              </a:spcAft>
              <a:defRPr sz="2000"/>
            </a:pPr>
            <a:r>
              <a:t>     A          6          20%</a:t>
            </a:r>
          </a:p>
          <a:p>
            <a:pPr>
              <a:spcAft>
                <a:spcPts val="800"/>
              </a:spcAft>
              <a:defRPr sz="2000"/>
            </a:pPr>
            <a:r>
              <a:t>     B         12          40%</a:t>
            </a:r>
          </a:p>
          <a:p>
            <a:pPr>
              <a:spcAft>
                <a:spcPts val="800"/>
              </a:spcAft>
              <a:defRPr sz="2000"/>
            </a:pPr>
            <a:r>
              <a:t>     C          8          27%</a:t>
            </a:r>
          </a:p>
          <a:p>
            <a:pPr>
              <a:spcAft>
                <a:spcPts val="800"/>
              </a:spcAft>
              <a:defRPr sz="2000"/>
            </a:pPr>
            <a:r>
              <a:t>     D          3          10%</a:t>
            </a:r>
          </a:p>
          <a:p>
            <a:pPr>
              <a:spcAft>
                <a:spcPts val="800"/>
              </a:spcAft>
              <a:defRPr sz="2000"/>
            </a:pPr>
            <a:r>
              <a:t>     F          1           3%</a:t>
            </a:r>
          </a:p>
          <a:p>
            <a:pPr>
              <a:spcAft>
                <a:spcPts val="800"/>
              </a:spcAft>
              <a:defRPr sz="2000"/>
            </a:pPr>
            <a:r>
              <a:t>   Total       30         100%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Choosing the Right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CENTRAL TENDENCY:</a:t>
            </a:r>
          </a:p>
          <a:p>
            <a:pPr>
              <a:spcAft>
                <a:spcPts val="800"/>
              </a:spcAft>
              <a:defRPr sz="2000"/>
            </a:pPr>
            <a:r>
              <a:t>   - Mean: Symmetric data, no outliers (most common)</a:t>
            </a:r>
          </a:p>
          <a:p>
            <a:pPr>
              <a:spcAft>
                <a:spcPts val="800"/>
              </a:spcAft>
              <a:defRPr sz="2000"/>
            </a:pPr>
            <a:r>
              <a:t>   - Median: Skewed data or outliers present</a:t>
            </a:r>
          </a:p>
          <a:p>
            <a:pPr>
              <a:spcAft>
                <a:spcPts val="800"/>
              </a:spcAft>
              <a:defRPr sz="2000"/>
            </a:pPr>
            <a:r>
              <a:t>   - Mode: Categorical data, or finding most common 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VARIABILITY:</a:t>
            </a:r>
          </a:p>
          <a:p>
            <a:pPr>
              <a:spcAft>
                <a:spcPts val="800"/>
              </a:spcAft>
              <a:defRPr sz="2000"/>
            </a:pPr>
            <a:r>
              <a:t>   - Range: Quick overview (but limited)</a:t>
            </a:r>
          </a:p>
          <a:p>
            <a:pPr>
              <a:spcAft>
                <a:spcPts val="800"/>
              </a:spcAft>
              <a:defRPr sz="2000"/>
            </a:pPr>
            <a:r>
              <a:t>   - Standard Deviation: Most commonly used</a:t>
            </a:r>
          </a:p>
          <a:p>
            <a:pPr>
              <a:spcAft>
                <a:spcPts val="800"/>
              </a:spcAft>
              <a:defRPr sz="2000"/>
            </a:pPr>
            <a:r>
              <a:t>   - Variance: Used in advanced calculations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Tip: Always report BOTH central tendency AND variability!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Variability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Calculate the range, variance, and standard deviation: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Data: 10, 12, 14, 16, 18  (Mean = 14)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Hints:</a:t>
            </a:r>
          </a:p>
          <a:p>
            <a:pPr>
              <a:spcAft>
                <a:spcPts val="800"/>
              </a:spcAft>
              <a:defRPr sz="2000"/>
            </a:pPr>
            <a:r>
              <a:t>   - Range = Max - Min</a:t>
            </a:r>
          </a:p>
          <a:p>
            <a:pPr>
              <a:spcAft>
                <a:spcPts val="800"/>
              </a:spcAft>
              <a:defRPr sz="2000"/>
            </a:pPr>
            <a:r>
              <a:t>   - Find deviations, square them, sum them</a:t>
            </a:r>
          </a:p>
          <a:p>
            <a:pPr>
              <a:spcAft>
                <a:spcPts val="800"/>
              </a:spcAft>
              <a:defRPr sz="2000"/>
            </a:pPr>
            <a:r>
              <a:t>   - Divide by (n-1) for variance</a:t>
            </a:r>
          </a:p>
          <a:p>
            <a:pPr>
              <a:spcAft>
                <a:spcPts val="800"/>
              </a:spcAft>
              <a:defRPr sz="2000"/>
            </a:pPr>
            <a:r>
              <a:t>   - Take square root for std dev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(Try it before the next slide!)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Answer: Variability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Data: 10, 12, 14, 16, 18  (Mean = 14)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Range = 18 - 10 = 8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Deviations: -4, -2, 0, 2, 4</a:t>
            </a:r>
          </a:p>
          <a:p>
            <a:pPr>
              <a:spcAft>
                <a:spcPts val="800"/>
              </a:spcAft>
              <a:defRPr sz="2000"/>
            </a:pPr>
            <a:r>
              <a:t>Squared: 16, 4, 0, 4, 16</a:t>
            </a:r>
          </a:p>
          <a:p>
            <a:pPr>
              <a:spcAft>
                <a:spcPts val="800"/>
              </a:spcAft>
              <a:defRPr sz="2000"/>
            </a:pPr>
            <a:r>
              <a:t>Sum of squares: 40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Variance = 40 / 4 = 10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Standard Deviation = √10 = 3.16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CENTRAL TENDENCY (where's the center?):</a:t>
            </a:r>
          </a:p>
          <a:p>
            <a:pPr>
              <a:spcAft>
                <a:spcPts val="800"/>
              </a:spcAft>
              <a:defRPr sz="2000"/>
            </a:pPr>
            <a:r>
              <a:t>   - Mean = average (sum / count)</a:t>
            </a:r>
          </a:p>
          <a:p>
            <a:pPr>
              <a:spcAft>
                <a:spcPts val="800"/>
              </a:spcAft>
              <a:defRPr sz="2000"/>
            </a:pPr>
            <a:r>
              <a:t>   - Median = middle value (order first!)</a:t>
            </a:r>
          </a:p>
          <a:p>
            <a:pPr>
              <a:spcAft>
                <a:spcPts val="800"/>
              </a:spcAft>
              <a:defRPr sz="2000"/>
            </a:pPr>
            <a:r>
              <a:t>   - Mode = most frequent 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VARIABILITY (how spread out?):</a:t>
            </a:r>
          </a:p>
          <a:p>
            <a:pPr>
              <a:spcAft>
                <a:spcPts val="800"/>
              </a:spcAft>
              <a:defRPr sz="2000"/>
            </a:pPr>
            <a:r>
              <a:t>   - Range = max - min</a:t>
            </a:r>
          </a:p>
          <a:p>
            <a:pPr>
              <a:spcAft>
                <a:spcPts val="800"/>
              </a:spcAft>
              <a:defRPr sz="2000"/>
            </a:pPr>
            <a:r>
              <a:t>   - Variance = average squared deviation</a:t>
            </a:r>
          </a:p>
          <a:p>
            <a:pPr>
              <a:spcAft>
                <a:spcPts val="800"/>
              </a:spcAft>
              <a:defRPr sz="2000"/>
            </a:pPr>
            <a:r>
              <a:t>   - Std Dev = √variance (same units as data)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consider outliers when choosing measures!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Excel Functions for Descriptive Stats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Central Tendency:</a:t>
            </a:r>
          </a:p>
          <a:p>
            <a:pPr>
              <a:spcAft>
                <a:spcPts val="800"/>
              </a:spcAft>
              <a:defRPr sz="2000"/>
            </a:pPr>
            <a:r>
              <a:t>   =AVERAGE(range)  → Mean</a:t>
            </a:r>
          </a:p>
          <a:p>
            <a:pPr>
              <a:spcAft>
                <a:spcPts val="800"/>
              </a:spcAft>
              <a:defRPr sz="2000"/>
            </a:pPr>
            <a:r>
              <a:t>   =MEDIAN(range)   → Median</a:t>
            </a:r>
          </a:p>
          <a:p>
            <a:pPr>
              <a:spcAft>
                <a:spcPts val="800"/>
              </a:spcAft>
              <a:defRPr sz="2000"/>
            </a:pPr>
            <a:r>
              <a:t>   =MODE(range)     → Mode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Variability:</a:t>
            </a:r>
          </a:p>
          <a:p>
            <a:pPr>
              <a:spcAft>
                <a:spcPts val="800"/>
              </a:spcAft>
              <a:defRPr sz="2000"/>
            </a:pPr>
            <a:r>
              <a:t>   =MAX(range) - MIN(range)  → Range</a:t>
            </a:r>
          </a:p>
          <a:p>
            <a:pPr>
              <a:spcAft>
                <a:spcPts val="800"/>
              </a:spcAft>
              <a:defRPr sz="2000"/>
            </a:pPr>
            <a:r>
              <a:t>   =VAR.S(range)    → Sample Variance</a:t>
            </a:r>
          </a:p>
          <a:p>
            <a:pPr>
              <a:spcAft>
                <a:spcPts val="800"/>
              </a:spcAft>
              <a:defRPr sz="2000"/>
            </a:pPr>
            <a:r>
              <a:t>   =STDEV.S(range)  → Sample Standard Deviation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Tip: Use .S versions for sample data (most common)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3: Probability and the Normal Distribution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will learn:</a:t>
            </a:r>
          </a:p>
          <a:p>
            <a:pPr>
              <a:spcAft>
                <a:spcPts val="800"/>
              </a:spcAft>
              <a:defRPr sz="2000"/>
            </a:pPr>
            <a:r>
              <a:t>   - Basic probability concepts</a:t>
            </a:r>
          </a:p>
          <a:p>
            <a:pPr>
              <a:spcAft>
                <a:spcPts val="800"/>
              </a:spcAft>
              <a:defRPr sz="2000"/>
            </a:pPr>
            <a:r>
              <a:t>   - The normal (bell) curve</a:t>
            </a:r>
          </a:p>
          <a:p>
            <a:pPr>
              <a:spcAft>
                <a:spcPts val="800"/>
              </a:spcAft>
              <a:defRPr sz="2000"/>
            </a:pPr>
            <a:r>
              <a:t>   - Z-scores and what they mean</a:t>
            </a:r>
          </a:p>
          <a:p>
            <a:pPr>
              <a:spcAft>
                <a:spcPts val="800"/>
              </a:spcAft>
              <a:defRPr sz="2000"/>
            </a:pPr>
            <a:r>
              <a:t>   - How to find percentiles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Assignments due this week: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#2: When Averages Mislead</a:t>
            </a:r>
          </a:p>
          <a:p>
            <a:pPr>
              <a:spcAft>
                <a:spcPts val="800"/>
              </a:spcAft>
              <a:defRPr sz="2000"/>
            </a:pPr>
            <a:r>
              <a:t>   - Quiz #2: Descriptive Statistics</a:t>
            </a:r>
          </a:p>
          <a:p>
            <a:pPr>
              <a:spcAft>
                <a:spcPts val="800"/>
              </a:spcAft>
              <a:defRPr sz="2000"/>
            </a:pPr>
            <a:r>
              <a:t>   - Assignment #1: Descriptive Statistics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