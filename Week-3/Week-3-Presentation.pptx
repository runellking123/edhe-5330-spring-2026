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Week 3: Probability &amp; Normal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EDHE 5330 - Statistics for Higher Education</a:t>
            </a:r>
            <a:br/>
            <a:r>
              <a:t>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By the end of this week, you will be able to: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1. Understand basic probability concepts</a:t>
            </a:r>
          </a:p>
          <a:p>
            <a:pPr>
              <a:spcAft>
                <a:spcPts val="800"/>
              </a:spcAft>
              <a:defRPr sz="2000"/>
            </a:pPr>
            <a:r>
              <a:t>2. Apply probability rules to educational scenarios</a:t>
            </a:r>
          </a:p>
          <a:p>
            <a:pPr>
              <a:spcAft>
                <a:spcPts val="800"/>
              </a:spcAft>
              <a:defRPr sz="2000"/>
            </a:pPr>
            <a:r>
              <a:t>3. Describe the normal distribution and its properties</a:t>
            </a:r>
          </a:p>
          <a:p>
            <a:pPr>
              <a:spcAft>
                <a:spcPts val="800"/>
              </a:spcAft>
              <a:defRPr sz="2000"/>
            </a:pPr>
            <a:r>
              <a:t>4. Calculate and interpret z-scores</a:t>
            </a:r>
          </a:p>
          <a:p>
            <a:pPr>
              <a:spcAft>
                <a:spcPts val="800"/>
              </a:spcAft>
              <a:defRPr sz="2000"/>
            </a:pPr>
            <a:r>
              <a:t>5. Find percentiles using the normal distribution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What is Probability?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PROBABILITY = The likelihood that something will happen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Expressed as a number between 0 and 1 (or 0% to 100%)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   0 = Impossible (will never happen)</a:t>
            </a:r>
          </a:p>
          <a:p>
            <a:pPr>
              <a:spcAft>
                <a:spcPts val="800"/>
              </a:spcAft>
              <a:defRPr sz="2000"/>
            </a:pPr>
            <a:r>
              <a:t>   0.5 = 50% chance (equally likely to happen or not)</a:t>
            </a:r>
          </a:p>
          <a:p>
            <a:pPr>
              <a:spcAft>
                <a:spcPts val="800"/>
              </a:spcAft>
              <a:defRPr sz="2000"/>
            </a:pPr>
            <a:r>
              <a:t>   1 = Certain (will definitely happen)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Example: Flipping a fair coin</a:t>
            </a:r>
          </a:p>
          <a:p>
            <a:pPr>
              <a:spcAft>
                <a:spcPts val="800"/>
              </a:spcAft>
              <a:defRPr sz="2000"/>
            </a:pPr>
            <a:r>
              <a:t>   P(Heads) = 0.5 or 50%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Basic Probability Formula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                 Number of favorable outcomes</a:t>
            </a:r>
          </a:p>
          <a:p>
            <a:pPr>
              <a:spcAft>
                <a:spcPts val="800"/>
              </a:spcAft>
              <a:defRPr sz="2000"/>
            </a:pPr>
            <a:r>
              <a:t>Probability = ――――――――――――――――――――――――――――――――</a:t>
            </a:r>
          </a:p>
          <a:p>
            <a:pPr>
              <a:spcAft>
                <a:spcPts val="800"/>
              </a:spcAft>
              <a:defRPr sz="2000"/>
            </a:pPr>
            <a:r>
              <a:t>                Total number of possible outcomes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Example: Drawing a red card from a standard deck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   Favorable outcomes = 26 red cards (hearts + diamonds)</a:t>
            </a:r>
          </a:p>
          <a:p>
            <a:pPr>
              <a:spcAft>
                <a:spcPts val="800"/>
              </a:spcAft>
              <a:defRPr sz="2000"/>
            </a:pPr>
            <a:r>
              <a:t>   Total outcomes = 52 cards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   P(red) = 26/52 = 0.5 or 50%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33"/>
                </a:solidFill>
              </a:defRPr>
            </a:pPr>
            <a:r>
              <a:t>Example: Student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A class has 30 students: 18 females and 12 males.</a:t>
            </a:r>
          </a:p>
          <a:p>
            <a:pPr>
              <a:spcAft>
                <a:spcPts val="800"/>
              </a:spcAft>
              <a:defRPr sz="2000"/>
            </a:pPr>
            <a:r>
              <a:t>If we randomly select one student, what's the probability</a:t>
            </a:r>
          </a:p>
          <a:p>
            <a:pPr>
              <a:spcAft>
                <a:spcPts val="800"/>
              </a:spcAft>
              <a:defRPr sz="2000"/>
            </a:pPr>
            <a:r>
              <a:t>of selecting a female?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Step 1: Identify favorable outcomes = 18 females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Step 2: Identify total outcomes = 30 students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Step 3: Calculate probability</a:t>
            </a:r>
          </a:p>
          <a:p>
            <a:pPr>
              <a:spcAft>
                <a:spcPts val="800"/>
              </a:spcAft>
              <a:defRPr sz="2000"/>
            </a:pPr>
            <a:r>
              <a:t>   P(female) = 18/30 = 0.60 or 60%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There's a 60% chance of selecting a female student.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Probability Rule: Addition (OR)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When finding the probability of A OR B happening: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If events CAN'T happen together (mutually exclusive):</a:t>
            </a:r>
          </a:p>
          <a:p>
            <a:pPr>
              <a:spcAft>
                <a:spcPts val="800"/>
              </a:spcAft>
              <a:defRPr sz="2000"/>
            </a:pPr>
            <a:r>
              <a:t>   P(A or B) = P(A) + P(B)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Example: Rolling a die, what's P(1 or 6)?</a:t>
            </a:r>
          </a:p>
          <a:p>
            <a:pPr>
              <a:spcAft>
                <a:spcPts val="800"/>
              </a:spcAft>
              <a:defRPr sz="2000"/>
            </a:pPr>
            <a:r>
              <a:t>   P(1) = 1/6, P(6) = 1/6</a:t>
            </a:r>
          </a:p>
          <a:p>
            <a:pPr>
              <a:spcAft>
                <a:spcPts val="800"/>
              </a:spcAft>
              <a:defRPr sz="2000"/>
            </a:pPr>
            <a:r>
              <a:t>   P(1 or 6) = 1/6 + 1/6 = 2/6 = 0.33 or 33%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Memory tip: "OR" means ADD probabilities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Probability Rule: Multiplication (AND)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When finding the probability of A AND B both happening: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If events are INDEPENDENT (one doesn't affect the other):</a:t>
            </a:r>
          </a:p>
          <a:p>
            <a:pPr>
              <a:spcAft>
                <a:spcPts val="800"/>
              </a:spcAft>
              <a:defRPr sz="2000"/>
            </a:pPr>
            <a:r>
              <a:t>   P(A and B) = P(A) × P(B)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Example: Flipping two coins, what's P(both heads)?</a:t>
            </a:r>
          </a:p>
          <a:p>
            <a:pPr>
              <a:spcAft>
                <a:spcPts val="800"/>
              </a:spcAft>
              <a:defRPr sz="2000"/>
            </a:pPr>
            <a:r>
              <a:t>   P(heads on 1st) = 0.5</a:t>
            </a:r>
          </a:p>
          <a:p>
            <a:pPr>
              <a:spcAft>
                <a:spcPts val="800"/>
              </a:spcAft>
              <a:defRPr sz="2000"/>
            </a:pPr>
            <a:r>
              <a:t>   P(heads on 2nd) = 0.5</a:t>
            </a:r>
          </a:p>
          <a:p>
            <a:pPr>
              <a:spcAft>
                <a:spcPts val="800"/>
              </a:spcAft>
              <a:defRPr sz="2000"/>
            </a:pPr>
            <a:r>
              <a:t>   P(both heads) = 0.5 × 0.5 = 0.25 or 25%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Memory tip: "AND" means MULTIPLY probabilities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33"/>
                </a:solidFill>
              </a:defRPr>
            </a:pPr>
            <a:r>
              <a:t>Practice: Probability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A university has the following enrollment:</a:t>
            </a:r>
          </a:p>
          <a:p>
            <a:pPr>
              <a:spcAft>
                <a:spcPts val="800"/>
              </a:spcAft>
              <a:defRPr sz="2000"/>
            </a:pPr>
            <a:r>
              <a:t>   - 4,000 freshmen</a:t>
            </a:r>
          </a:p>
          <a:p>
            <a:pPr>
              <a:spcAft>
                <a:spcPts val="800"/>
              </a:spcAft>
              <a:defRPr sz="2000"/>
            </a:pPr>
            <a:r>
              <a:t>   - 3,500 sophomores</a:t>
            </a:r>
          </a:p>
          <a:p>
            <a:pPr>
              <a:spcAft>
                <a:spcPts val="800"/>
              </a:spcAft>
              <a:defRPr sz="2000"/>
            </a:pPr>
            <a:r>
              <a:t>   - 3,000 juniors</a:t>
            </a:r>
          </a:p>
          <a:p>
            <a:pPr>
              <a:spcAft>
                <a:spcPts val="800"/>
              </a:spcAft>
              <a:defRPr sz="2000"/>
            </a:pPr>
            <a:r>
              <a:t>   - 2,500 seniors</a:t>
            </a:r>
          </a:p>
          <a:p>
            <a:pPr>
              <a:spcAft>
                <a:spcPts val="800"/>
              </a:spcAft>
              <a:defRPr sz="2000"/>
            </a:pPr>
            <a:r>
              <a:t>   Total: 13,000 students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If a student is randomly selected, find:</a:t>
            </a:r>
          </a:p>
          <a:p>
            <a:pPr>
              <a:spcAft>
                <a:spcPts val="800"/>
              </a:spcAft>
              <a:defRPr sz="2000"/>
            </a:pPr>
            <a:r>
              <a:t>   a) P(freshman)</a:t>
            </a:r>
          </a:p>
          <a:p>
            <a:pPr>
              <a:spcAft>
                <a:spcPts val="800"/>
              </a:spcAft>
              <a:defRPr sz="2000"/>
            </a:pPr>
            <a:r>
              <a:t>   b) P(junior OR senior)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(Calculate before the next slide!)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33"/>
                </a:solidFill>
              </a:defRPr>
            </a:pPr>
            <a:r>
              <a:t>Practice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Total students = 13,000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a) P(freshman) = 4,000 / 13,000 = 0.31 or 31%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b) P(junior OR senior)</a:t>
            </a:r>
          </a:p>
          <a:p>
            <a:pPr>
              <a:spcAft>
                <a:spcPts val="800"/>
              </a:spcAft>
              <a:defRPr sz="2000"/>
            </a:pPr>
            <a:r>
              <a:t>   These are mutually exclusive (can't be both)</a:t>
            </a:r>
          </a:p>
          <a:p>
            <a:pPr>
              <a:spcAft>
                <a:spcPts val="800"/>
              </a:spcAft>
              <a:defRPr sz="2000"/>
            </a:pPr>
            <a:r>
              <a:t>   P(junior) = 3,000 / 13,000 = 0.23</a:t>
            </a:r>
          </a:p>
          <a:p>
            <a:pPr>
              <a:spcAft>
                <a:spcPts val="800"/>
              </a:spcAft>
              <a:defRPr sz="2000"/>
            </a:pPr>
            <a:r>
              <a:t>   P(senior) = 2,500 / 13,000 = 0.19</a:t>
            </a:r>
          </a:p>
          <a:p>
            <a:pPr>
              <a:spcAft>
                <a:spcPts val="800"/>
              </a:spcAft>
              <a:defRPr sz="2000"/>
            </a:pPr>
            <a:r>
              <a:t>   P(junior OR senior) = 0.23 + 0.19 = 0.42 or 42%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The Normal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The NORMAL DISTRIBUTION (bell curve) is the most important</a:t>
            </a:r>
          </a:p>
          <a:p>
            <a:pPr>
              <a:spcAft>
                <a:spcPts val="800"/>
              </a:spcAft>
              <a:defRPr sz="2000"/>
            </a:pPr>
            <a:r>
              <a:t>distribution in statistics.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Why? Many real-world measurements follow this pattern:</a:t>
            </a:r>
          </a:p>
          <a:p>
            <a:pPr>
              <a:spcAft>
                <a:spcPts val="800"/>
              </a:spcAft>
              <a:defRPr sz="2000"/>
            </a:pPr>
            <a:r>
              <a:t>   - Test scores</a:t>
            </a:r>
          </a:p>
          <a:p>
            <a:pPr>
              <a:spcAft>
                <a:spcPts val="800"/>
              </a:spcAft>
              <a:defRPr sz="2000"/>
            </a:pPr>
            <a:r>
              <a:t>   - Heights</a:t>
            </a:r>
          </a:p>
          <a:p>
            <a:pPr>
              <a:spcAft>
                <a:spcPts val="800"/>
              </a:spcAft>
              <a:defRPr sz="2000"/>
            </a:pPr>
            <a:r>
              <a:t>   - IQ scores</a:t>
            </a:r>
          </a:p>
          <a:p>
            <a:pPr>
              <a:spcAft>
                <a:spcPts val="800"/>
              </a:spcAft>
              <a:defRPr sz="2000"/>
            </a:pPr>
            <a:r>
              <a:t>   - Blood pressure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Shape: Symmetric, bell-shaped curve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Properties of the Normal Curve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1. SYMMETRIC around the mean</a:t>
            </a:r>
          </a:p>
          <a:p>
            <a:pPr>
              <a:spcAft>
                <a:spcPts val="800"/>
              </a:spcAft>
              <a:defRPr sz="2000"/>
            </a:pPr>
            <a:r>
              <a:t>   - Left side mirrors the right side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2. Mean = Median = Mode</a:t>
            </a:r>
          </a:p>
          <a:p>
            <a:pPr>
              <a:spcAft>
                <a:spcPts val="800"/>
              </a:spcAft>
              <a:defRPr sz="2000"/>
            </a:pPr>
            <a:r>
              <a:t>   - All three are at the center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3. Total area under the curve = 1 (100%)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4. The curve never touches the x-axis</a:t>
            </a:r>
          </a:p>
          <a:p>
            <a:pPr>
              <a:spcAft>
                <a:spcPts val="800"/>
              </a:spcAft>
              <a:defRPr sz="2000"/>
            </a:pPr>
            <a:r>
              <a:t>   - Tails extend infinitely (but get very small)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The Empirical Rule (68-95-99.7)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For any normal distribution: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68% of data falls within 1 standard deviation of the mean</a:t>
            </a:r>
          </a:p>
          <a:p>
            <a:pPr>
              <a:spcAft>
                <a:spcPts val="800"/>
              </a:spcAft>
              <a:defRPr sz="2000"/>
            </a:pPr>
            <a:r>
              <a:t>   (Mean ± 1 SD)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95% of data falls within 2 standard deviations of the mean</a:t>
            </a:r>
          </a:p>
          <a:p>
            <a:pPr>
              <a:spcAft>
                <a:spcPts val="800"/>
              </a:spcAft>
              <a:defRPr sz="2000"/>
            </a:pPr>
            <a:r>
              <a:t>   (Mean ± 2 SD)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99.7% of data falls within 3 standard deviations of the mean</a:t>
            </a:r>
          </a:p>
          <a:p>
            <a:pPr>
              <a:spcAft>
                <a:spcPts val="800"/>
              </a:spcAft>
              <a:defRPr sz="2000"/>
            </a:pPr>
            <a:r>
              <a:t>   (Mean ± 3 SD)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33"/>
                </a:solidFill>
              </a:defRPr>
            </a:pPr>
            <a:r>
              <a:t>Example: Applying the Empirical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Test scores are normally distributed:</a:t>
            </a:r>
          </a:p>
          <a:p>
            <a:pPr>
              <a:spcAft>
                <a:spcPts val="800"/>
              </a:spcAft>
              <a:defRPr sz="2000"/>
            </a:pPr>
            <a:r>
              <a:t>   Mean = 75, Standard Deviation = 10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68% of scores fall between:</a:t>
            </a:r>
          </a:p>
          <a:p>
            <a:pPr>
              <a:spcAft>
                <a:spcPts val="800"/>
              </a:spcAft>
              <a:defRPr sz="2000"/>
            </a:pPr>
            <a:r>
              <a:t>   75 - 10 = 65  and  75 + 10 = 85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95% of scores fall between:</a:t>
            </a:r>
          </a:p>
          <a:p>
            <a:pPr>
              <a:spcAft>
                <a:spcPts val="800"/>
              </a:spcAft>
              <a:defRPr sz="2000"/>
            </a:pPr>
            <a:r>
              <a:t>   75 - 20 = 55  and  75 + 20 = 95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99.7% of scores fall between:</a:t>
            </a:r>
          </a:p>
          <a:p>
            <a:pPr>
              <a:spcAft>
                <a:spcPts val="800"/>
              </a:spcAft>
              <a:defRPr sz="2000"/>
            </a:pPr>
            <a:r>
              <a:t>   75 - 30 = 45  and  75 + 30 = 105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What is a Z-Score?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A Z-SCORE tells you how many standard deviations</a:t>
            </a:r>
          </a:p>
          <a:p>
            <a:pPr>
              <a:spcAft>
                <a:spcPts val="800"/>
              </a:spcAft>
              <a:defRPr sz="2000"/>
            </a:pPr>
            <a:r>
              <a:t>a value is from the mean.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Formula:      x - mean</a:t>
            </a:r>
          </a:p>
          <a:p>
            <a:pPr>
              <a:spcAft>
                <a:spcPts val="800"/>
              </a:spcAft>
              <a:defRPr sz="2000"/>
            </a:pPr>
            <a:r>
              <a:t>        z = ――――――――――</a:t>
            </a:r>
          </a:p>
          <a:p>
            <a:pPr>
              <a:spcAft>
                <a:spcPts val="800"/>
              </a:spcAft>
              <a:defRPr sz="2000"/>
            </a:pPr>
            <a:r>
              <a:t>               SD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Interpretation:</a:t>
            </a:r>
          </a:p>
          <a:p>
            <a:pPr>
              <a:spcAft>
                <a:spcPts val="800"/>
              </a:spcAft>
              <a:defRPr sz="2000"/>
            </a:pPr>
            <a:r>
              <a:t>   z = 0  → Value is AT the mean</a:t>
            </a:r>
          </a:p>
          <a:p>
            <a:pPr>
              <a:spcAft>
                <a:spcPts val="800"/>
              </a:spcAft>
              <a:defRPr sz="2000"/>
            </a:pPr>
            <a:r>
              <a:t>   z = +1 → Value is 1 SD ABOVE the mean</a:t>
            </a:r>
          </a:p>
          <a:p>
            <a:pPr>
              <a:spcAft>
                <a:spcPts val="800"/>
              </a:spcAft>
              <a:defRPr sz="2000"/>
            </a:pPr>
            <a:r>
              <a:t>   z = -1 → Value is 1 SD BELOW the mean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33"/>
                </a:solidFill>
              </a:defRPr>
            </a:pPr>
            <a:r>
              <a:t>Step-by-Step: Calculating Z-Scores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Test scores: Mean = 75, SD = 10</a:t>
            </a:r>
          </a:p>
          <a:p>
            <a:pPr>
              <a:spcAft>
                <a:spcPts val="800"/>
              </a:spcAft>
              <a:defRPr sz="2000"/>
            </a:pPr>
            <a:r>
              <a:t>A student scored 90. What is their z-score?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Step 1: Identify the values</a:t>
            </a:r>
          </a:p>
          <a:p>
            <a:pPr>
              <a:spcAft>
                <a:spcPts val="800"/>
              </a:spcAft>
              <a:defRPr sz="2000"/>
            </a:pPr>
            <a:r>
              <a:t>   x = 90 (the student's score)</a:t>
            </a:r>
          </a:p>
          <a:p>
            <a:pPr>
              <a:spcAft>
                <a:spcPts val="800"/>
              </a:spcAft>
              <a:defRPr sz="2000"/>
            </a:pPr>
            <a:r>
              <a:t>   mean = 75</a:t>
            </a:r>
          </a:p>
          <a:p>
            <a:pPr>
              <a:spcAft>
                <a:spcPts val="800"/>
              </a:spcAft>
              <a:defRPr sz="2000"/>
            </a:pPr>
            <a:r>
              <a:t>   SD = 10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Step 2: Apply the formula</a:t>
            </a:r>
          </a:p>
          <a:p>
            <a:pPr>
              <a:spcAft>
                <a:spcPts val="800"/>
              </a:spcAft>
              <a:defRPr sz="2000"/>
            </a:pPr>
            <a:r>
              <a:t>   z = (90 - 75) / 10 = 15 / 10 = 1.5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Interpretation: This student scored 1.5 standard deviations</a:t>
            </a:r>
          </a:p>
          <a:p>
            <a:pPr>
              <a:spcAft>
                <a:spcPts val="800"/>
              </a:spcAft>
              <a:defRPr sz="2000"/>
            </a:pPr>
            <a:r>
              <a:t>ABOVE the mean. That's a great score!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33"/>
                </a:solidFill>
              </a:defRPr>
            </a:pPr>
            <a:r>
              <a:t>Example: Below the Mean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Same test: Mean = 75, SD = 10</a:t>
            </a:r>
          </a:p>
          <a:p>
            <a:pPr>
              <a:spcAft>
                <a:spcPts val="800"/>
              </a:spcAft>
              <a:defRPr sz="2000"/>
            </a:pPr>
            <a:r>
              <a:t>A student scored 60. What is their z-score?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z = (60 - 75) / 10 = -15 / 10 = -1.5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Interpretation: This student scored 1.5 standard deviations</a:t>
            </a:r>
          </a:p>
          <a:p>
            <a:pPr>
              <a:spcAft>
                <a:spcPts val="800"/>
              </a:spcAft>
              <a:defRPr sz="2000"/>
            </a:pPr>
            <a:r>
              <a:t>BELOW the mean.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Note: Negative z-score = below average</a:t>
            </a:r>
          </a:p>
          <a:p>
            <a:pPr>
              <a:spcAft>
                <a:spcPts val="800"/>
              </a:spcAft>
              <a:defRPr sz="2000"/>
            </a:pPr>
            <a:r>
              <a:t>      Positive z-score = above average</a:t>
            </a:r>
          </a:p>
          <a:p>
            <a:pPr>
              <a:spcAft>
                <a:spcPts val="800"/>
              </a:spcAft>
              <a:defRPr sz="2000"/>
            </a:pPr>
            <a:r>
              <a:t>      Zero z-score = exactly average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Z-Scores and Percentiles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Z-scores help us find PERCENTILES (what % scored below you)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Common z-scores and percentiles:</a:t>
            </a:r>
          </a:p>
          <a:p>
            <a:pPr>
              <a:spcAft>
                <a:spcPts val="800"/>
              </a:spcAft>
              <a:defRPr sz="2000"/>
            </a:pPr>
            <a:r>
              <a:t>   z = -2    →  about 2nd percentile</a:t>
            </a:r>
          </a:p>
          <a:p>
            <a:pPr>
              <a:spcAft>
                <a:spcPts val="800"/>
              </a:spcAft>
              <a:defRPr sz="2000"/>
            </a:pPr>
            <a:r>
              <a:t>   z = -1    →  about 16th percentile</a:t>
            </a:r>
          </a:p>
          <a:p>
            <a:pPr>
              <a:spcAft>
                <a:spcPts val="800"/>
              </a:spcAft>
              <a:defRPr sz="2000"/>
            </a:pPr>
            <a:r>
              <a:t>   z = 0     →  50th percentile (median)</a:t>
            </a:r>
          </a:p>
          <a:p>
            <a:pPr>
              <a:spcAft>
                <a:spcPts val="800"/>
              </a:spcAft>
              <a:defRPr sz="2000"/>
            </a:pPr>
            <a:r>
              <a:t>   z = +1    →  about 84th percentile</a:t>
            </a:r>
          </a:p>
          <a:p>
            <a:pPr>
              <a:spcAft>
                <a:spcPts val="800"/>
              </a:spcAft>
              <a:defRPr sz="2000"/>
            </a:pPr>
            <a:r>
              <a:t>   z = +2    →  about 98th percentile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A z-score of 1.5 ≈ 93rd percentile</a:t>
            </a:r>
          </a:p>
          <a:p>
            <a:pPr>
              <a:spcAft>
                <a:spcPts val="800"/>
              </a:spcAft>
              <a:defRPr sz="2000"/>
            </a:pPr>
            <a:r>
              <a:t>(Better than 93% of test-takers!)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33"/>
                </a:solidFill>
              </a:defRPr>
            </a:pPr>
            <a:r>
              <a:t>Practice: Z-Score Calculation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GPA at a university is normally distributed:</a:t>
            </a:r>
          </a:p>
          <a:p>
            <a:pPr>
              <a:spcAft>
                <a:spcPts val="800"/>
              </a:spcAft>
              <a:defRPr sz="2000"/>
            </a:pPr>
            <a:r>
              <a:t>   Mean = 2.8, Standard Deviation = 0.5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Calculate the z-score for a student with a GPA of 3.5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Then interpret: Is this above or below average?</a:t>
            </a:r>
          </a:p>
          <a:p>
            <a:pPr>
              <a:spcAft>
                <a:spcPts val="800"/>
              </a:spcAft>
              <a:defRPr sz="2000"/>
            </a:pPr>
            <a:r>
              <a:t>                How many SDs from the mean?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(Work it out before the next slide!)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33"/>
                </a:solidFill>
              </a:defRPr>
            </a:pPr>
            <a:r>
              <a:t>Practice Answer: Z-Score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GPA: Mean = 2.8, SD = 0.5, Student GPA = 3.5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Step 1: Apply the formula</a:t>
            </a:r>
          </a:p>
          <a:p>
            <a:pPr>
              <a:spcAft>
                <a:spcPts val="800"/>
              </a:spcAft>
              <a:defRPr sz="2000"/>
            </a:pPr>
            <a:r>
              <a:t>   z = (3.5 - 2.8) / 0.5</a:t>
            </a:r>
          </a:p>
          <a:p>
            <a:pPr>
              <a:spcAft>
                <a:spcPts val="800"/>
              </a:spcAft>
              <a:defRPr sz="2000"/>
            </a:pPr>
            <a:r>
              <a:t>   z = 0.7 / 0.5</a:t>
            </a:r>
          </a:p>
          <a:p>
            <a:pPr>
              <a:spcAft>
                <a:spcPts val="800"/>
              </a:spcAft>
              <a:defRPr sz="2000"/>
            </a:pPr>
            <a:r>
              <a:t>   z = 1.4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Interpretation:</a:t>
            </a:r>
          </a:p>
          <a:p>
            <a:pPr>
              <a:spcAft>
                <a:spcPts val="800"/>
              </a:spcAft>
              <a:defRPr sz="2000"/>
            </a:pPr>
            <a:r>
              <a:t>   - This GPA is 1.4 standard deviations ABOVE the mean</a:t>
            </a:r>
          </a:p>
          <a:p>
            <a:pPr>
              <a:spcAft>
                <a:spcPts val="800"/>
              </a:spcAft>
              <a:defRPr sz="2000"/>
            </a:pPr>
            <a:r>
              <a:t>   - This is ABOVE average (positive z-score)</a:t>
            </a:r>
          </a:p>
          <a:p>
            <a:pPr>
              <a:spcAft>
                <a:spcPts val="800"/>
              </a:spcAft>
              <a:defRPr sz="2000"/>
            </a:pPr>
            <a:r>
              <a:t>   - Approximately 92nd percentile</a:t>
            </a:r>
          </a:p>
          <a:p>
            <a:pPr>
              <a:spcAft>
                <a:spcPts val="800"/>
              </a:spcAft>
              <a:defRPr sz="2000"/>
            </a:pPr>
            <a:r>
              <a:t>   - Better than about 92% of students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33"/>
                </a:solidFill>
              </a:defRPr>
            </a:pPr>
            <a:r>
              <a:t>Using Z-Scores to Compare Different 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Which score is better?</a:t>
            </a:r>
          </a:p>
          <a:p>
            <a:pPr>
              <a:spcAft>
                <a:spcPts val="800"/>
              </a:spcAft>
              <a:defRPr sz="2000"/>
            </a:pPr>
            <a:r>
              <a:t>   SAT: 1200 (Mean=1050, SD=200)</a:t>
            </a:r>
          </a:p>
          <a:p>
            <a:pPr>
              <a:spcAft>
                <a:spcPts val="800"/>
              </a:spcAft>
              <a:defRPr sz="2000"/>
            </a:pPr>
            <a:r>
              <a:t>   ACT: 28 (Mean=21, SD=5)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Calculate z-scores:</a:t>
            </a:r>
          </a:p>
          <a:p>
            <a:pPr>
              <a:spcAft>
                <a:spcPts val="800"/>
              </a:spcAft>
              <a:defRPr sz="2000"/>
            </a:pPr>
            <a:r>
              <a:t>   SAT: z = (1200-1050)/200 = 150/200 = 0.75</a:t>
            </a:r>
          </a:p>
          <a:p>
            <a:pPr>
              <a:spcAft>
                <a:spcPts val="800"/>
              </a:spcAft>
              <a:defRPr sz="2000"/>
            </a:pPr>
            <a:r>
              <a:t>   ACT: z = (28-21)/5 = 7/5 = 1.4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The ACT score (z=1.4) is relatively better than</a:t>
            </a:r>
          </a:p>
          <a:p>
            <a:pPr>
              <a:spcAft>
                <a:spcPts val="800"/>
              </a:spcAft>
              <a:defRPr sz="2000"/>
            </a:pPr>
            <a:r>
              <a:t>the SAT score (z=0.75), even though we can't directly</a:t>
            </a:r>
          </a:p>
          <a:p>
            <a:pPr>
              <a:spcAft>
                <a:spcPts val="800"/>
              </a:spcAft>
              <a:defRPr sz="2000"/>
            </a:pPr>
            <a:r>
              <a:t>compare 1200 to 28.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Excel Functions for Normal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Finding probability/percentile from a value:</a:t>
            </a:r>
          </a:p>
          <a:p>
            <a:pPr>
              <a:spcAft>
                <a:spcPts val="800"/>
              </a:spcAft>
              <a:defRPr sz="2000"/>
            </a:pPr>
            <a:r>
              <a:t>   =NORM.DIST(x, mean, sd, TRUE)</a:t>
            </a:r>
          </a:p>
          <a:p>
            <a:pPr>
              <a:spcAft>
                <a:spcPts val="800"/>
              </a:spcAft>
              <a:defRPr sz="2000"/>
            </a:pPr>
            <a:r>
              <a:t>   Returns the percentile (cumulative probability)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Finding a value from a percentile:</a:t>
            </a:r>
          </a:p>
          <a:p>
            <a:pPr>
              <a:spcAft>
                <a:spcPts val="800"/>
              </a:spcAft>
              <a:defRPr sz="2000"/>
            </a:pPr>
            <a:r>
              <a:t>   =NORM.INV(probability, mean, sd)</a:t>
            </a:r>
          </a:p>
          <a:p>
            <a:pPr>
              <a:spcAft>
                <a:spcPts val="800"/>
              </a:spcAft>
              <a:defRPr sz="2000"/>
            </a:pPr>
            <a:r>
              <a:t>   Returns the value at that percentile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For z-scores specifically:</a:t>
            </a:r>
          </a:p>
          <a:p>
            <a:pPr>
              <a:spcAft>
                <a:spcPts val="800"/>
              </a:spcAft>
              <a:defRPr sz="2000"/>
            </a:pPr>
            <a:r>
              <a:t>   =STANDARDIZE(x, mean, sd)  → Returns z-score</a:t>
            </a:r>
          </a:p>
          <a:p>
            <a:pPr>
              <a:spcAft>
                <a:spcPts val="800"/>
              </a:spcAft>
              <a:defRPr sz="2000"/>
            </a:pPr>
            <a:r>
              <a:t>   =NORM.S.DIST(z, TRUE)      → Returns percentile for z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33"/>
                </a:solidFill>
              </a:defRPr>
            </a:pPr>
            <a:r>
              <a:t>Real-World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A university sets an admission cutoff at the 75th percentile</a:t>
            </a:r>
          </a:p>
          <a:p>
            <a:pPr>
              <a:spcAft>
                <a:spcPts val="800"/>
              </a:spcAft>
              <a:defRPr sz="2000"/>
            </a:pPr>
            <a:r>
              <a:t>of entrance exam scores.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Exam: Mean = 500, SD = 100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What score is needed?</a:t>
            </a:r>
          </a:p>
          <a:p>
            <a:pPr>
              <a:spcAft>
                <a:spcPts val="800"/>
              </a:spcAft>
              <a:defRPr sz="2000"/>
            </a:pPr>
            <a:r>
              <a:t>   Using Excel: =NORM.INV(0.75, 500, 100)</a:t>
            </a:r>
          </a:p>
          <a:p>
            <a:pPr>
              <a:spcAft>
                <a:spcPts val="800"/>
              </a:spcAft>
              <a:defRPr sz="2000"/>
            </a:pPr>
            <a:r>
              <a:t>   Answer: 567.4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Students need to score at least 568 to be admitted.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This is z = 0.67 (about 2/3 of a SD above the mean)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PROBABILITY:</a:t>
            </a:r>
          </a:p>
          <a:p>
            <a:pPr>
              <a:spcAft>
                <a:spcPts val="800"/>
              </a:spcAft>
              <a:defRPr sz="2000"/>
            </a:pPr>
            <a:r>
              <a:t>   - P = favorable outcomes / total outcomes</a:t>
            </a:r>
          </a:p>
          <a:p>
            <a:pPr>
              <a:spcAft>
                <a:spcPts val="800"/>
              </a:spcAft>
              <a:defRPr sz="2000"/>
            </a:pPr>
            <a:r>
              <a:t>   - OR = add, AND = multiply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NORMAL DISTRIBUTION:</a:t>
            </a:r>
          </a:p>
          <a:p>
            <a:pPr>
              <a:spcAft>
                <a:spcPts val="800"/>
              </a:spcAft>
              <a:defRPr sz="2000"/>
            </a:pPr>
            <a:r>
              <a:t>   - Bell-shaped, symmetric around the mean</a:t>
            </a:r>
          </a:p>
          <a:p>
            <a:pPr>
              <a:spcAft>
                <a:spcPts val="800"/>
              </a:spcAft>
              <a:defRPr sz="2000"/>
            </a:pPr>
            <a:r>
              <a:t>   - 68-95-99.7 rule for 1, 2, 3 standard deviations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Z-SCORES:</a:t>
            </a:r>
          </a:p>
          <a:p>
            <a:pPr>
              <a:spcAft>
                <a:spcPts val="800"/>
              </a:spcAft>
              <a:defRPr sz="2000"/>
            </a:pPr>
            <a:r>
              <a:t>   - z = (x - mean) / SD</a:t>
            </a:r>
          </a:p>
          <a:p>
            <a:pPr>
              <a:spcAft>
                <a:spcPts val="800"/>
              </a:spcAft>
              <a:defRPr sz="2000"/>
            </a:pPr>
            <a:r>
              <a:t>   - Tells how many SDs from the mean</a:t>
            </a:r>
          </a:p>
          <a:p>
            <a:pPr>
              <a:spcAft>
                <a:spcPts val="800"/>
              </a:spcAft>
              <a:defRPr sz="2000"/>
            </a:pPr>
            <a:r>
              <a:t>   - Allows comparison across different scales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Coming Up Next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Week 4: Sampling and Random Variables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We will learn:</a:t>
            </a:r>
          </a:p>
          <a:p>
            <a:pPr>
              <a:spcAft>
                <a:spcPts val="800"/>
              </a:spcAft>
              <a:defRPr sz="2000"/>
            </a:pPr>
            <a:r>
              <a:t>   - Different sampling methods</a:t>
            </a:r>
          </a:p>
          <a:p>
            <a:pPr>
              <a:spcAft>
                <a:spcPts val="800"/>
              </a:spcAft>
              <a:defRPr sz="2000"/>
            </a:pPr>
            <a:r>
              <a:t>   - Sources of sampling bias</a:t>
            </a:r>
          </a:p>
          <a:p>
            <a:pPr>
              <a:spcAft>
                <a:spcPts val="800"/>
              </a:spcAft>
              <a:defRPr sz="2000"/>
            </a:pPr>
            <a:r>
              <a:t>   - How to evaluate research samples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Also: MIDTERM ASSESSMENT is due Week 4!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This week's assignments:</a:t>
            </a:r>
          </a:p>
          <a:p>
            <a:pPr>
              <a:spcAft>
                <a:spcPts val="800"/>
              </a:spcAft>
              <a:defRPr sz="2000"/>
            </a:pPr>
            <a:r>
              <a:t>   - Discussion #3</a:t>
            </a:r>
          </a:p>
          <a:p>
            <a:pPr>
              <a:spcAft>
                <a:spcPts val="800"/>
              </a:spcAft>
              <a:defRPr sz="2000"/>
            </a:pPr>
            <a:r>
              <a:t>   - Quiz #3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