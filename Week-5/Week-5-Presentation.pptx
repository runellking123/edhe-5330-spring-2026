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5: Correlation &amp;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Create and interpret scatterplots</a:t>
            </a:r>
          </a:p>
          <a:p>
            <a:pPr>
              <a:spcAft>
                <a:spcPts val="800"/>
              </a:spcAft>
              <a:defRPr sz="2000"/>
            </a:pPr>
            <a:r>
              <a:t>2. Calculate and interpret correlation coefficients</a:t>
            </a:r>
          </a:p>
          <a:p>
            <a:pPr>
              <a:spcAft>
                <a:spcPts val="800"/>
              </a:spcAft>
              <a:defRPr sz="2000"/>
            </a:pPr>
            <a:r>
              <a:t>3. Distinguish correlation from causation</a:t>
            </a:r>
          </a:p>
          <a:p>
            <a:pPr>
              <a:spcAft>
                <a:spcPts val="800"/>
              </a:spcAft>
              <a:defRPr sz="2000"/>
            </a:pPr>
            <a:r>
              <a:t>4. Understand simple linear regression</a:t>
            </a:r>
          </a:p>
          <a:p>
            <a:pPr>
              <a:spcAft>
                <a:spcPts val="800"/>
              </a:spcAft>
              <a:defRPr sz="2000"/>
            </a:pPr>
            <a:r>
              <a:t>5. Interpret slope, intercept, and R-squared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Relationships Between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Often we want to know: Are two variables RELATED?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Examples in higher education:</a:t>
            </a:r>
          </a:p>
          <a:p>
            <a:pPr>
              <a:spcAft>
                <a:spcPts val="800"/>
              </a:spcAft>
              <a:defRPr sz="2000"/>
            </a:pPr>
            <a:r>
              <a:t>   - Are SAT scores related to college GPA?</a:t>
            </a:r>
          </a:p>
          <a:p>
            <a:pPr>
              <a:spcAft>
                <a:spcPts val="800"/>
              </a:spcAft>
              <a:defRPr sz="2000"/>
            </a:pPr>
            <a:r>
              <a:t>   - Is study time related to test performance?</a:t>
            </a:r>
          </a:p>
          <a:p>
            <a:pPr>
              <a:spcAft>
                <a:spcPts val="800"/>
              </a:spcAft>
              <a:defRPr sz="2000"/>
            </a:pPr>
            <a:r>
              <a:t>   - Is class size related to student satisfaction?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CORRELATION measures the strength and direction</a:t>
            </a:r>
          </a:p>
          <a:p>
            <a:pPr>
              <a:spcAft>
                <a:spcPts val="800"/>
              </a:spcAft>
              <a:defRPr sz="2000"/>
            </a:pPr>
            <a:r>
              <a:t>of a LINEAR relationship between two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Scatterplots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SCATTERPLOT shows the relationship between two</a:t>
            </a:r>
          </a:p>
          <a:p>
            <a:pPr>
              <a:spcAft>
                <a:spcPts val="800"/>
              </a:spcAft>
              <a:defRPr sz="2000"/>
            </a:pPr>
            <a:r>
              <a:t>quantitative variables.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- X-axis: Independent variable (predictor)</a:t>
            </a:r>
          </a:p>
          <a:p>
            <a:pPr>
              <a:spcAft>
                <a:spcPts val="800"/>
              </a:spcAft>
              <a:defRPr sz="2000"/>
            </a:pPr>
            <a:r>
              <a:t>   - Y-axis: Dependent variable (outcome)</a:t>
            </a:r>
          </a:p>
          <a:p>
            <a:pPr>
              <a:spcAft>
                <a:spcPts val="800"/>
              </a:spcAft>
              <a:defRPr sz="2000"/>
            </a:pPr>
            <a:r>
              <a:t>   - Each dot represents one observation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Look for:</a:t>
            </a:r>
          </a:p>
          <a:p>
            <a:pPr>
              <a:spcAft>
                <a:spcPts val="800"/>
              </a:spcAft>
              <a:defRPr sz="2000"/>
            </a:pPr>
            <a:r>
              <a:t>   - Direction (positive, negative, none)</a:t>
            </a:r>
          </a:p>
          <a:p>
            <a:pPr>
              <a:spcAft>
                <a:spcPts val="800"/>
              </a:spcAft>
              <a:defRPr sz="2000"/>
            </a:pPr>
            <a:r>
              <a:t>   - Strength (tight cluster vs. spread out)</a:t>
            </a:r>
          </a:p>
          <a:p>
            <a:pPr>
              <a:spcAft>
                <a:spcPts val="800"/>
              </a:spcAft>
              <a:defRPr sz="2000"/>
            </a:pPr>
            <a:r>
              <a:t>   - Form (linear vs. curved)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Types of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POSITIVE CORRELATION:</a:t>
            </a:r>
          </a:p>
          <a:p>
            <a:pPr>
              <a:spcAft>
                <a:spcPts val="800"/>
              </a:spcAft>
              <a:defRPr sz="2000"/>
            </a:pPr>
            <a:r>
              <a:t>   As X increases, Y increases</a:t>
            </a:r>
          </a:p>
          <a:p>
            <a:pPr>
              <a:spcAft>
                <a:spcPts val="800"/>
              </a:spcAft>
              <a:defRPr sz="2000"/>
            </a:pPr>
            <a:r>
              <a:t>   Example: Study hours and test scores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NEGATIVE CORRELATION:</a:t>
            </a:r>
          </a:p>
          <a:p>
            <a:pPr>
              <a:spcAft>
                <a:spcPts val="800"/>
              </a:spcAft>
              <a:defRPr sz="2000"/>
            </a:pPr>
            <a:r>
              <a:t>   As X increases, Y decreases</a:t>
            </a:r>
          </a:p>
          <a:p>
            <a:pPr>
              <a:spcAft>
                <a:spcPts val="800"/>
              </a:spcAft>
              <a:defRPr sz="2000"/>
            </a:pPr>
            <a:r>
              <a:t>   Example: Absences and final grade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 CORRELATION:</a:t>
            </a:r>
          </a:p>
          <a:p>
            <a:pPr>
              <a:spcAft>
                <a:spcPts val="800"/>
              </a:spcAft>
              <a:defRPr sz="2000"/>
            </a:pPr>
            <a:r>
              <a:t>   No consistent pattern between X and Y</a:t>
            </a:r>
          </a:p>
          <a:p>
            <a:pPr>
              <a:spcAft>
                <a:spcPts val="800"/>
              </a:spcAft>
              <a:defRPr sz="2000"/>
            </a:pPr>
            <a:r>
              <a:t>   Example: Shoe size and GPA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Correlation Coefficient (r)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 measures the strength and direction of linear relationship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Range: -1 to +1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r = +1  Perfect positive correlation</a:t>
            </a:r>
          </a:p>
          <a:p>
            <a:pPr>
              <a:spcAft>
                <a:spcPts val="800"/>
              </a:spcAft>
              <a:defRPr sz="2000"/>
            </a:pPr>
            <a:r>
              <a:t>   r = 0   No linear correlation</a:t>
            </a:r>
          </a:p>
          <a:p>
            <a:pPr>
              <a:spcAft>
                <a:spcPts val="800"/>
              </a:spcAft>
              <a:defRPr sz="2000"/>
            </a:pPr>
            <a:r>
              <a:t>   r = -1  Perfect negative correlation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Strength guidelines:</a:t>
            </a:r>
          </a:p>
          <a:p>
            <a:pPr>
              <a:spcAft>
                <a:spcPts val="800"/>
              </a:spcAft>
              <a:defRPr sz="2000"/>
            </a:pPr>
            <a:r>
              <a:t>   |r| &lt; 0.3   Weak</a:t>
            </a:r>
          </a:p>
          <a:p>
            <a:pPr>
              <a:spcAft>
                <a:spcPts val="800"/>
              </a:spcAft>
              <a:defRPr sz="2000"/>
            </a:pPr>
            <a:r>
              <a:t>   |r| 0.3-0.7 Moderate</a:t>
            </a:r>
          </a:p>
          <a:p>
            <a:pPr>
              <a:spcAft>
                <a:spcPts val="800"/>
              </a:spcAft>
              <a:defRPr sz="2000"/>
            </a:pPr>
            <a:r>
              <a:t>   |r| &gt; 0.7   Strong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Interpreting 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 = 0.85 (SAT and college GPA)</a:t>
            </a:r>
          </a:p>
          <a:p>
            <a:pPr>
              <a:spcAft>
                <a:spcPts val="800"/>
              </a:spcAft>
              <a:defRPr sz="2000"/>
            </a:pPr>
            <a:r>
              <a:t>   → Strong positive correlation</a:t>
            </a:r>
          </a:p>
          <a:p>
            <a:pPr>
              <a:spcAft>
                <a:spcPts val="800"/>
              </a:spcAft>
              <a:defRPr sz="2000"/>
            </a:pPr>
            <a:r>
              <a:t>   → Higher SAT tends to mean higher GPA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 = -0.62 (Absences and final grade)</a:t>
            </a:r>
          </a:p>
          <a:p>
            <a:pPr>
              <a:spcAft>
                <a:spcPts val="800"/>
              </a:spcAft>
              <a:defRPr sz="2000"/>
            </a:pPr>
            <a:r>
              <a:t>   → Moderate negative correlation</a:t>
            </a:r>
          </a:p>
          <a:p>
            <a:pPr>
              <a:spcAft>
                <a:spcPts val="800"/>
              </a:spcAft>
              <a:defRPr sz="2000"/>
            </a:pPr>
            <a:r>
              <a:t>   → More absences tends to mean lower grades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 = 0.12 (Height and GPA)</a:t>
            </a:r>
          </a:p>
          <a:p>
            <a:pPr>
              <a:spcAft>
                <a:spcPts val="800"/>
              </a:spcAft>
              <a:defRPr sz="2000"/>
            </a:pPr>
            <a:r>
              <a:t>   → Weak/no correlation</a:t>
            </a:r>
          </a:p>
          <a:p>
            <a:pPr>
              <a:spcAft>
                <a:spcPts val="800"/>
              </a:spcAft>
              <a:defRPr sz="2000"/>
            </a:pPr>
            <a:r>
              <a:t>   → Height is not related to academic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Calculating r (Simplified)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Study hours (X) and Test score (Y) for 5 students</a:t>
            </a:r>
          </a:p>
          <a:p>
            <a:pPr>
              <a:spcAft>
                <a:spcPts val="800"/>
              </a:spcAft>
              <a:defRPr sz="2000"/>
            </a:pPr>
            <a:r>
              <a:t>   X: 2, 4, 6, 8, 10    Mean X = 6</a:t>
            </a:r>
          </a:p>
          <a:p>
            <a:pPr>
              <a:spcAft>
                <a:spcPts val="800"/>
              </a:spcAft>
              <a:defRPr sz="2000"/>
            </a:pPr>
            <a:r>
              <a:t>   Y: 65, 70, 75, 85, 90  Mean Y = 77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Excel makes this easy!</a:t>
            </a:r>
          </a:p>
          <a:p>
            <a:pPr>
              <a:spcAft>
                <a:spcPts val="800"/>
              </a:spcAft>
              <a:defRPr sz="2000"/>
            </a:pPr>
            <a:r>
              <a:t>   =CORREL(X_range, Y_range)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 this data: r = 0.98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 Very strong positive correlation.</a:t>
            </a:r>
          </a:p>
          <a:p>
            <a:pPr>
              <a:spcAft>
                <a:spcPts val="800"/>
              </a:spcAft>
              <a:defRPr sz="2000"/>
            </a:pPr>
            <a:r>
              <a:t>More study hours is strongly associated with higher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CRITICAL: Correlation ≠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Just because two variables are correlated does NOT mean</a:t>
            </a:r>
          </a:p>
          <a:p>
            <a:pPr>
              <a:spcAft>
                <a:spcPts val="800"/>
              </a:spcAft>
              <a:defRPr sz="2000"/>
            </a:pPr>
            <a:r>
              <a:t>one CAUSES the other!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Possible explanations for correlation:</a:t>
            </a:r>
          </a:p>
          <a:p>
            <a:pPr>
              <a:spcAft>
                <a:spcPts val="800"/>
              </a:spcAft>
              <a:defRPr sz="2000"/>
            </a:pPr>
            <a:r>
              <a:t>   1. X causes Y</a:t>
            </a:r>
          </a:p>
          <a:p>
            <a:pPr>
              <a:spcAft>
                <a:spcPts val="800"/>
              </a:spcAft>
              <a:defRPr sz="2000"/>
            </a:pPr>
            <a:r>
              <a:t>   2. Y causes X (reverse causation)</a:t>
            </a:r>
          </a:p>
          <a:p>
            <a:pPr>
              <a:spcAft>
                <a:spcPts val="800"/>
              </a:spcAft>
              <a:defRPr sz="2000"/>
            </a:pPr>
            <a:r>
              <a:t>   3. A third variable causes both (confounding)</a:t>
            </a:r>
          </a:p>
          <a:p>
            <a:pPr>
              <a:spcAft>
                <a:spcPts val="800"/>
              </a:spcAft>
              <a:defRPr sz="2000"/>
            </a:pPr>
            <a:r>
              <a:t>   4. Coincidence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Ice cream sales and drowning deaths are correlated.</a:t>
            </a:r>
          </a:p>
          <a:p>
            <a:pPr>
              <a:spcAft>
                <a:spcPts val="800"/>
              </a:spcAft>
              <a:defRPr sz="2000"/>
            </a:pPr>
            <a:r>
              <a:t>Does ice cream cause drowning? NO! Summer (heat) causes both.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Confounding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Study finds: Students who eat breakfast have higher GPAs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Does eating breakfast CAUSE higher GPA?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Possible confounds:</a:t>
            </a:r>
          </a:p>
          <a:p>
            <a:pPr>
              <a:spcAft>
                <a:spcPts val="800"/>
              </a:spcAft>
              <a:defRPr sz="2000"/>
            </a:pPr>
            <a:r>
              <a:t>   - Socioeconomic status (can afford breakfast)</a:t>
            </a:r>
          </a:p>
          <a:p>
            <a:pPr>
              <a:spcAft>
                <a:spcPts val="800"/>
              </a:spcAft>
              <a:defRPr sz="2000"/>
            </a:pPr>
            <a:r>
              <a:t>   - Better time management skills</a:t>
            </a:r>
          </a:p>
          <a:p>
            <a:pPr>
              <a:spcAft>
                <a:spcPts val="800"/>
              </a:spcAft>
              <a:defRPr sz="2000"/>
            </a:pPr>
            <a:r>
              <a:t>   - More parental involvement</a:t>
            </a:r>
          </a:p>
          <a:p>
            <a:pPr>
              <a:spcAft>
                <a:spcPts val="800"/>
              </a:spcAft>
              <a:defRPr sz="2000"/>
            </a:pPr>
            <a:r>
              <a:t>   - Living situation (dorm vs. commuter)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correlation is real, but causation is not proven!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Simple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REGRESSION goes beyond correlation to PREDICT Y from X.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Equation of a line: Y = a + bX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a = intercept (value of Y when X = 0)</a:t>
            </a:r>
          </a:p>
          <a:p>
            <a:pPr>
              <a:spcAft>
                <a:spcPts val="800"/>
              </a:spcAft>
              <a:defRPr sz="2000"/>
            </a:pPr>
            <a:r>
              <a:t>   b = slope (change in Y for each 1-unit change in X)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"best fit" line minimizes prediction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Regression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Predicting GPA from SAT score: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Regression equation: GPA = 0.5 + 0.002(SAT)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</a:t>
            </a:r>
          </a:p>
          <a:p>
            <a:pPr>
              <a:spcAft>
                <a:spcPts val="800"/>
              </a:spcAft>
              <a:defRPr sz="2000"/>
            </a:pPr>
            <a:r>
              <a:t>   a = 0.5 (intercept - not meaningful here)</a:t>
            </a:r>
          </a:p>
          <a:p>
            <a:pPr>
              <a:spcAft>
                <a:spcPts val="800"/>
              </a:spcAft>
              <a:defRPr sz="2000"/>
            </a:pPr>
            <a:r>
              <a:t>   b = 0.002 (for each 1-point SAT increase,</a:t>
            </a:r>
          </a:p>
          <a:p>
            <a:pPr>
              <a:spcAft>
                <a:spcPts val="800"/>
              </a:spcAft>
              <a:defRPr sz="2000"/>
            </a:pPr>
            <a:r>
              <a:t>              GPA increases by 0.002)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Prediction: What GPA for SAT = 1200?</a:t>
            </a:r>
          </a:p>
          <a:p>
            <a:pPr>
              <a:spcAft>
                <a:spcPts val="800"/>
              </a:spcAft>
              <a:defRPr sz="2000"/>
            </a:pPr>
            <a:r>
              <a:t>   GPA = 0.5 + 0.002(1200) = 0.5 + 2.4 = 2.9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R-Squared (R²)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R² tells us how much of the variation in Y is</a:t>
            </a:r>
          </a:p>
          <a:p>
            <a:pPr>
              <a:spcAft>
                <a:spcPts val="800"/>
              </a:spcAft>
              <a:defRPr sz="2000"/>
            </a:pPr>
            <a:r>
              <a:t>explained by X.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R² = r² (correlation coefficient squared)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Range: 0 to 1 (or 0% to 100%)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r = 0.80</a:t>
            </a:r>
          </a:p>
          <a:p>
            <a:pPr>
              <a:spcAft>
                <a:spcPts val="800"/>
              </a:spcAft>
              <a:defRPr sz="2000"/>
            </a:pPr>
            <a:r>
              <a:t>   R² = 0.64 or 64%</a:t>
            </a:r>
          </a:p>
          <a:p>
            <a:pPr>
              <a:spcAft>
                <a:spcPts val="800"/>
              </a:spcAft>
              <a:defRPr sz="2000"/>
            </a:pPr>
            <a:r>
              <a:t>   "64% of variation in GPA can be explained by SAT scores"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other 36% is due to other factors.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Excel Functions for Correlation/Regression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Correlation:</a:t>
            </a:r>
          </a:p>
          <a:p>
            <a:pPr>
              <a:spcAft>
                <a:spcPts val="800"/>
              </a:spcAft>
              <a:defRPr sz="2000"/>
            </a:pPr>
            <a:r>
              <a:t>   =CORREL(X_range, Y_range)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Regression:</a:t>
            </a:r>
          </a:p>
          <a:p>
            <a:pPr>
              <a:spcAft>
                <a:spcPts val="800"/>
              </a:spcAft>
              <a:defRPr sz="2000"/>
            </a:pPr>
            <a:r>
              <a:t>   =SLOPE(Y_range, X_range)     → b (slope)</a:t>
            </a:r>
          </a:p>
          <a:p>
            <a:pPr>
              <a:spcAft>
                <a:spcPts val="800"/>
              </a:spcAft>
              <a:defRPr sz="2000"/>
            </a:pPr>
            <a:r>
              <a:t>   =INTERCEPT(Y_range, X_range) → a (intercept)</a:t>
            </a:r>
          </a:p>
          <a:p>
            <a:pPr>
              <a:spcAft>
                <a:spcPts val="800"/>
              </a:spcAft>
              <a:defRPr sz="2000"/>
            </a:pPr>
            <a:r>
              <a:t>   =RSQ(Y_range, X_range)       → R²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Or use Data Analysis → Regression for full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CORRELATION (r):</a:t>
            </a:r>
          </a:p>
          <a:p>
            <a:pPr>
              <a:spcAft>
                <a:spcPts val="800"/>
              </a:spcAft>
              <a:defRPr sz="2000"/>
            </a:pPr>
            <a:r>
              <a:t>   - Measures strength and direction of relationship</a:t>
            </a:r>
          </a:p>
          <a:p>
            <a:pPr>
              <a:spcAft>
                <a:spcPts val="800"/>
              </a:spcAft>
              <a:defRPr sz="2000"/>
            </a:pPr>
            <a:r>
              <a:t>   - Range: -1 to +1</a:t>
            </a:r>
          </a:p>
          <a:p>
            <a:pPr>
              <a:spcAft>
                <a:spcPts val="800"/>
              </a:spcAft>
              <a:defRPr sz="2000"/>
            </a:pPr>
            <a:r>
              <a:t>   - Does NOT prove causation!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REGRESSION:</a:t>
            </a:r>
          </a:p>
          <a:p>
            <a:pPr>
              <a:spcAft>
                <a:spcPts val="800"/>
              </a:spcAft>
              <a:defRPr sz="2000"/>
            </a:pPr>
            <a:r>
              <a:t>   - Predicts Y from X</a:t>
            </a:r>
          </a:p>
          <a:p>
            <a:pPr>
              <a:spcAft>
                <a:spcPts val="800"/>
              </a:spcAft>
              <a:defRPr sz="2000"/>
            </a:pPr>
            <a:r>
              <a:t>   - Equation: Y = a + bX</a:t>
            </a:r>
          </a:p>
          <a:p>
            <a:pPr>
              <a:spcAft>
                <a:spcPts val="800"/>
              </a:spcAft>
              <a:defRPr sz="2000"/>
            </a:pPr>
            <a:r>
              <a:t>   - R² shows % of variation explained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consider confounding variables!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6: Hypothesis Testing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will learn:</a:t>
            </a:r>
          </a:p>
          <a:p>
            <a:pPr>
              <a:spcAft>
                <a:spcPts val="800"/>
              </a:spcAft>
              <a:defRPr sz="2000"/>
            </a:pPr>
            <a:r>
              <a:t>   - Null and alternative hypotheses</a:t>
            </a:r>
          </a:p>
          <a:p>
            <a:pPr>
              <a:spcAft>
                <a:spcPts val="800"/>
              </a:spcAft>
              <a:defRPr sz="2000"/>
            </a:pPr>
            <a:r>
              <a:t>   - P-values and what they mean</a:t>
            </a:r>
          </a:p>
          <a:p>
            <a:pPr>
              <a:spcAft>
                <a:spcPts val="800"/>
              </a:spcAft>
              <a:defRPr sz="2000"/>
            </a:pPr>
            <a:r>
              <a:t>   - Type I and Type II errors</a:t>
            </a:r>
          </a:p>
          <a:p>
            <a:pPr>
              <a:spcAft>
                <a:spcPts val="800"/>
              </a:spcAft>
              <a:defRPr sz="2000"/>
            </a:pPr>
            <a:r>
              <a:t>   - Making decisions about hypotheses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week's assignments: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#5: Correlation vs. Causation</a:t>
            </a:r>
          </a:p>
          <a:p>
            <a:pPr>
              <a:spcAft>
                <a:spcPts val="800"/>
              </a:spcAft>
              <a:defRPr sz="2000"/>
            </a:pPr>
            <a:r>
              <a:t>   - Quiz #5: Correlation and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