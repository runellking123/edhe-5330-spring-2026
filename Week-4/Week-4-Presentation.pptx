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Week 4: Sampling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EDHE 5330 - Statistics for Higher Education</a:t>
            </a:r>
            <a:br/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By the end of this week, you will be able to: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Distinguish between populations and samples</a:t>
            </a:r>
          </a:p>
          <a:p>
            <a:pPr>
              <a:spcAft>
                <a:spcPts val="800"/>
              </a:spcAft>
              <a:defRPr sz="2000"/>
            </a:pPr>
            <a:r>
              <a:t>2. Identify different sampling methods</a:t>
            </a:r>
          </a:p>
          <a:p>
            <a:pPr>
              <a:spcAft>
                <a:spcPts val="800"/>
              </a:spcAft>
              <a:defRPr sz="2000"/>
            </a:pPr>
            <a:r>
              <a:t>3. Recognize sources of sampling bias</a:t>
            </a:r>
          </a:p>
          <a:p>
            <a:pPr>
              <a:spcAft>
                <a:spcPts val="800"/>
              </a:spcAft>
              <a:defRPr sz="2000"/>
            </a:pPr>
            <a:r>
              <a:t>4. Evaluate sampling strategies in research</a:t>
            </a:r>
          </a:p>
          <a:p>
            <a:pPr>
              <a:spcAft>
                <a:spcPts val="800"/>
              </a:spcAft>
              <a:defRPr sz="2000"/>
            </a:pPr>
            <a:r>
              <a:t>5. Choose appropriate sampling methods for research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Sampling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We rarely can study EVERYONE in a population.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Instead, we study a SAMPLE and make inferences.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KEY question: Is our sample REPRESENTATIVE?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If yes → We can generalize findings to the population</a:t>
            </a:r>
          </a:p>
          <a:p>
            <a:pPr>
              <a:spcAft>
                <a:spcPts val="800"/>
              </a:spcAft>
              <a:defRPr sz="2000"/>
            </a:pPr>
            <a:r>
              <a:t>If no → Our conclusions may be wrong (sampling bias)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Population vs. Sample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POPULATION: The entire group you want to study</a:t>
            </a:r>
          </a:p>
          <a:p>
            <a:pPr>
              <a:spcAft>
                <a:spcPts val="800"/>
              </a:spcAft>
              <a:defRPr sz="2000"/>
            </a:pPr>
            <a:r>
              <a:t>   Example: All 50,000 students at a university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SAMPLE: A subset selected from the population</a:t>
            </a:r>
          </a:p>
          <a:p>
            <a:pPr>
              <a:spcAft>
                <a:spcPts val="800"/>
              </a:spcAft>
              <a:defRPr sz="2000"/>
            </a:pPr>
            <a:r>
              <a:t>   Example: 500 students randomly selected for a survey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PARAMETER: A number describing the population (often unknown)</a:t>
            </a:r>
          </a:p>
          <a:p>
            <a:pPr>
              <a:spcAft>
                <a:spcPts val="800"/>
              </a:spcAft>
              <a:defRPr sz="2000"/>
            </a:pPr>
            <a:r>
              <a:t>   Example: True average GPA of all students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STATISTIC: A number calculated from the sample</a:t>
            </a:r>
          </a:p>
          <a:p>
            <a:pPr>
              <a:spcAft>
                <a:spcPts val="800"/>
              </a:spcAft>
              <a:defRPr sz="2000"/>
            </a:pPr>
            <a:r>
              <a:t>   Example: Average GPA of the 500 sampled 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Probability Sampling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PROBABILITY SAMPLING: Every member has a known chance</a:t>
            </a:r>
          </a:p>
          <a:p>
            <a:pPr>
              <a:spcAft>
                <a:spcPts val="800"/>
              </a:spcAft>
              <a:defRPr sz="2000"/>
            </a:pPr>
            <a:r>
              <a:t>of being selected (allows generalization)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Simple Random Sampling</a:t>
            </a:r>
          </a:p>
          <a:p>
            <a:pPr>
              <a:spcAft>
                <a:spcPts val="800"/>
              </a:spcAft>
              <a:defRPr sz="2000"/>
            </a:pPr>
            <a:r>
              <a:t>2. Stratified Random Sampling</a:t>
            </a:r>
          </a:p>
          <a:p>
            <a:pPr>
              <a:spcAft>
                <a:spcPts val="800"/>
              </a:spcAft>
              <a:defRPr sz="2000"/>
            </a:pPr>
            <a:r>
              <a:t>3. Cluster Sampling</a:t>
            </a:r>
          </a:p>
          <a:p>
            <a:pPr>
              <a:spcAft>
                <a:spcPts val="800"/>
              </a:spcAft>
              <a:defRPr sz="2000"/>
            </a:pPr>
            <a:r>
              <a:t>4. Systematic Sampling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These are the "gold standard" for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Simple Random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Every member of the population has an EQUAL chance</a:t>
            </a:r>
          </a:p>
          <a:p>
            <a:pPr>
              <a:spcAft>
                <a:spcPts val="800"/>
              </a:spcAft>
              <a:defRPr sz="2000"/>
            </a:pPr>
            <a:r>
              <a:t>of being selected.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How to do it:</a:t>
            </a:r>
          </a:p>
          <a:p>
            <a:pPr>
              <a:spcAft>
                <a:spcPts val="800"/>
              </a:spcAft>
              <a:defRPr sz="2000"/>
            </a:pPr>
            <a:r>
              <a:t>   - Assign a number to everyone in the population</a:t>
            </a:r>
          </a:p>
          <a:p>
            <a:pPr>
              <a:spcAft>
                <a:spcPts val="800"/>
              </a:spcAft>
              <a:defRPr sz="2000"/>
            </a:pPr>
            <a:r>
              <a:t>   - Use a random number generator to select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Put all 50,000 student IDs in a hat, draw 500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Pros: Unbiased, easy to understand</a:t>
            </a:r>
          </a:p>
          <a:p>
            <a:pPr>
              <a:spcAft>
                <a:spcPts val="800"/>
              </a:spcAft>
              <a:defRPr sz="2000"/>
            </a:pPr>
            <a:r>
              <a:t>Cons: Need a complete list of population, may miss subgroups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Simple Random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Research question: What is the average study time</a:t>
            </a:r>
          </a:p>
          <a:p>
            <a:pPr>
              <a:spcAft>
                <a:spcPts val="800"/>
              </a:spcAft>
              <a:defRPr sz="2000"/>
            </a:pPr>
            <a:r>
              <a:t>for students at State University?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Population: 25,000 enrolled students</a:t>
            </a:r>
          </a:p>
          <a:p>
            <a:pPr>
              <a:spcAft>
                <a:spcPts val="800"/>
              </a:spcAft>
              <a:defRPr sz="2000"/>
            </a:pPr>
            <a:r>
              <a:t>Desired sample: 400 students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Process:</a:t>
            </a:r>
          </a:p>
          <a:p>
            <a:pPr>
              <a:spcAft>
                <a:spcPts val="800"/>
              </a:spcAft>
              <a:defRPr sz="2000"/>
            </a:pPr>
            <a:r>
              <a:t>   1. Get list of all 25,000 student IDs</a:t>
            </a:r>
          </a:p>
          <a:p>
            <a:pPr>
              <a:spcAft>
                <a:spcPts val="800"/>
              </a:spcAft>
              <a:defRPr sz="2000"/>
            </a:pPr>
            <a:r>
              <a:t>   2. Use Excel: =RAND() to assign random numbers</a:t>
            </a:r>
          </a:p>
          <a:p>
            <a:pPr>
              <a:spcAft>
                <a:spcPts val="800"/>
              </a:spcAft>
              <a:defRPr sz="2000"/>
            </a:pPr>
            <a:r>
              <a:t>   3. Sort by random numbers</a:t>
            </a:r>
          </a:p>
          <a:p>
            <a:pPr>
              <a:spcAft>
                <a:spcPts val="800"/>
              </a:spcAft>
              <a:defRPr sz="2000"/>
            </a:pPr>
            <a:r>
              <a:t>   4. Select top 400 students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Each student had a 400/25,000 = 1.6% chance of selection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Stratified Random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Divide population into STRATA (subgroups), then</a:t>
            </a:r>
          </a:p>
          <a:p>
            <a:pPr>
              <a:spcAft>
                <a:spcPts val="800"/>
              </a:spcAft>
              <a:defRPr sz="2000"/>
            </a:pPr>
            <a:r>
              <a:t>randomly sample from EACH stratum.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Why use it? Ensures representation of important subgroups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Sample students by class standing</a:t>
            </a:r>
          </a:p>
          <a:p>
            <a:pPr>
              <a:spcAft>
                <a:spcPts val="800"/>
              </a:spcAft>
              <a:defRPr sz="2000"/>
            </a:pPr>
            <a:r>
              <a:t>   - 25% Freshmen → sample 100 freshmen</a:t>
            </a:r>
          </a:p>
          <a:p>
            <a:pPr>
              <a:spcAft>
                <a:spcPts val="800"/>
              </a:spcAft>
              <a:defRPr sz="2000"/>
            </a:pPr>
            <a:r>
              <a:t>   - 25% Sophomores → sample 100 sophomores</a:t>
            </a:r>
          </a:p>
          <a:p>
            <a:pPr>
              <a:spcAft>
                <a:spcPts val="800"/>
              </a:spcAft>
              <a:defRPr sz="2000"/>
            </a:pPr>
            <a:r>
              <a:t>   - 25% Juniors → sample 100 juniors</a:t>
            </a:r>
          </a:p>
          <a:p>
            <a:pPr>
              <a:spcAft>
                <a:spcPts val="800"/>
              </a:spcAft>
              <a:defRPr sz="2000"/>
            </a:pPr>
            <a:r>
              <a:t>   - 25% Seniors → sample 100 seniors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Pros: Guarantees subgroup representation</a:t>
            </a:r>
          </a:p>
          <a:p>
            <a:pPr>
              <a:spcAft>
                <a:spcPts val="800"/>
              </a:spcAft>
              <a:defRPr sz="2000"/>
            </a:pPr>
            <a:r>
              <a:t>Cons: Must know stratum membership in advance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Cluster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Divide population into CLUSTERS (groups), randomly</a:t>
            </a:r>
          </a:p>
          <a:p>
            <a:pPr>
              <a:spcAft>
                <a:spcPts val="800"/>
              </a:spcAft>
              <a:defRPr sz="2000"/>
            </a:pPr>
            <a:r>
              <a:t>select some clusters, then sample everyone in those clusters.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Studying students across 50 universities</a:t>
            </a:r>
          </a:p>
          <a:p>
            <a:pPr>
              <a:spcAft>
                <a:spcPts val="800"/>
              </a:spcAft>
              <a:defRPr sz="2000"/>
            </a:pPr>
            <a:r>
              <a:t>   - Randomly select 10 universities (clusters)</a:t>
            </a:r>
          </a:p>
          <a:p>
            <a:pPr>
              <a:spcAft>
                <a:spcPts val="800"/>
              </a:spcAft>
              <a:defRPr sz="2000"/>
            </a:pPr>
            <a:r>
              <a:t>   - Survey ALL students at those 10 universities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Pros: Practical, cost-effective for spread-out populations</a:t>
            </a:r>
          </a:p>
          <a:p>
            <a:pPr>
              <a:spcAft>
                <a:spcPts val="800"/>
              </a:spcAft>
              <a:defRPr sz="2000"/>
            </a:pPr>
            <a:r>
              <a:t>Cons: Less precise than other methods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Systematic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Select every kth member from a list.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Formula: k = Population size / Desired sample size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Need 200 from 10,000 students</a:t>
            </a:r>
          </a:p>
          <a:p>
            <a:pPr>
              <a:spcAft>
                <a:spcPts val="800"/>
              </a:spcAft>
              <a:defRPr sz="2000"/>
            </a:pPr>
            <a:r>
              <a:t>   k = 10,000 / 200 = 50</a:t>
            </a:r>
          </a:p>
          <a:p>
            <a:pPr>
              <a:spcAft>
                <a:spcPts val="800"/>
              </a:spcAft>
              <a:defRPr sz="2000"/>
            </a:pPr>
            <a:r>
              <a:t>   Start at random point, select every 50th student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Pros: Easy to implement</a:t>
            </a:r>
          </a:p>
          <a:p>
            <a:pPr>
              <a:spcAft>
                <a:spcPts val="800"/>
              </a:spcAft>
              <a:defRPr sz="2000"/>
            </a:pPr>
            <a:r>
              <a:t>Cons: Can be biased if list has a pattern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Non-Probability Sampling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NON-PROBABILITY: Not everyone has a known chance</a:t>
            </a:r>
          </a:p>
          <a:p>
            <a:pPr>
              <a:spcAft>
                <a:spcPts val="800"/>
              </a:spcAft>
              <a:defRPr sz="2000"/>
            </a:pPr>
            <a:r>
              <a:t>of selection (limits generalization)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Convenience Sampling - whoever is available</a:t>
            </a:r>
          </a:p>
          <a:p>
            <a:pPr>
              <a:spcAft>
                <a:spcPts val="800"/>
              </a:spcAft>
              <a:defRPr sz="2000"/>
            </a:pPr>
            <a:r>
              <a:t>2. Voluntary Response - people choose to participate</a:t>
            </a:r>
          </a:p>
          <a:p>
            <a:pPr>
              <a:spcAft>
                <a:spcPts val="800"/>
              </a:spcAft>
              <a:defRPr sz="2000"/>
            </a:pPr>
            <a:r>
              <a:t>3. Purposive Sampling - researcher selects specific people</a:t>
            </a:r>
          </a:p>
          <a:p>
            <a:pPr>
              <a:spcAft>
                <a:spcPts val="800"/>
              </a:spcAft>
              <a:defRPr sz="2000"/>
            </a:pPr>
            <a:r>
              <a:t>4. Snowball Sampling - participants recruit others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These are easier but have significant limitations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The Problem with Convenience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professor surveys students in her 9 AM statistics class</a:t>
            </a:r>
          </a:p>
          <a:p>
            <a:pPr>
              <a:spcAft>
                <a:spcPts val="800"/>
              </a:spcAft>
              <a:defRPr sz="2000"/>
            </a:pPr>
            <a:r>
              <a:t>about campus parking problems.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Problems:</a:t>
            </a:r>
          </a:p>
          <a:p>
            <a:pPr>
              <a:spcAft>
                <a:spcPts val="800"/>
              </a:spcAft>
              <a:defRPr sz="2000"/>
            </a:pPr>
            <a:r>
              <a:t>   - Only represents students who take early classes</a:t>
            </a:r>
          </a:p>
          <a:p>
            <a:pPr>
              <a:spcAft>
                <a:spcPts val="800"/>
              </a:spcAft>
              <a:defRPr sz="2000"/>
            </a:pPr>
            <a:r>
              <a:t>   - May miss commuter students with different schedules</a:t>
            </a:r>
          </a:p>
          <a:p>
            <a:pPr>
              <a:spcAft>
                <a:spcPts val="800"/>
              </a:spcAft>
              <a:defRPr sz="2000"/>
            </a:pPr>
            <a:r>
              <a:t>   - May over-represent residential students</a:t>
            </a:r>
          </a:p>
          <a:p>
            <a:pPr>
              <a:spcAft>
                <a:spcPts val="800"/>
              </a:spcAft>
              <a:defRPr sz="2000"/>
            </a:pPr>
            <a:r>
              <a:t>   - May miss graduate students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Result: Cannot generalize to ALL students on campus!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Sources of Sampling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SELECTION BIAS: Some groups more likely to be included</a:t>
            </a:r>
          </a:p>
          <a:p>
            <a:pPr>
              <a:spcAft>
                <a:spcPts val="800"/>
              </a:spcAft>
              <a:defRPr sz="2000"/>
            </a:pPr>
            <a:r>
              <a:t>   Example: Online survey excludes those without internet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NON-RESPONSE BIAS: Those who respond differ from non-responders</a:t>
            </a:r>
          </a:p>
          <a:p>
            <a:pPr>
              <a:spcAft>
                <a:spcPts val="800"/>
              </a:spcAft>
              <a:defRPr sz="2000"/>
            </a:pPr>
            <a:r>
              <a:t>   Example: Only motivated students complete the survey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UNDERCOVERAGE: Some groups left out of sampling frame</a:t>
            </a:r>
          </a:p>
          <a:p>
            <a:pPr>
              <a:spcAft>
                <a:spcPts val="800"/>
              </a:spcAft>
              <a:defRPr sz="2000"/>
            </a:pPr>
            <a:r>
              <a:t>   Example: Using email list that doesn't include part-time students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VOLUNTARY RESPONSE BIAS: Only those with strong opinions respond</a:t>
            </a:r>
          </a:p>
          <a:p>
            <a:pPr>
              <a:spcAft>
                <a:spcPts val="800"/>
              </a:spcAft>
              <a:defRPr sz="2000"/>
            </a:pPr>
            <a:r>
              <a:t>   Example: Rate-my-professor reviews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Practice: Identify the Sampling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Identify the sampling method used: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A researcher numbers all 5,000 employees and uses</a:t>
            </a:r>
          </a:p>
          <a:p>
            <a:pPr>
              <a:spcAft>
                <a:spcPts val="800"/>
              </a:spcAft>
              <a:defRPr sz="2000"/>
            </a:pPr>
            <a:r>
              <a:t>   a random number generator to select 200.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2. A researcher divides students by major, then randomly</a:t>
            </a:r>
          </a:p>
          <a:p>
            <a:pPr>
              <a:spcAft>
                <a:spcPts val="800"/>
              </a:spcAft>
              <a:defRPr sz="2000"/>
            </a:pPr>
            <a:r>
              <a:t>   selects 50 students from each major.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3. A researcher stands outside the library and asks</a:t>
            </a:r>
          </a:p>
          <a:p>
            <a:pPr>
              <a:spcAft>
                <a:spcPts val="800"/>
              </a:spcAft>
              <a:defRPr sz="2000"/>
            </a:pPr>
            <a:r>
              <a:t>   students walking by to complete a survey.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(Answers on next slide)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Simple Random Sampling</a:t>
            </a:r>
          </a:p>
          <a:p>
            <a:pPr>
              <a:spcAft>
                <a:spcPts val="800"/>
              </a:spcAft>
              <a:defRPr sz="2000"/>
            </a:pPr>
            <a:r>
              <a:t>   - Every employee has equal chance of selection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2. Stratified Random Sampling</a:t>
            </a:r>
          </a:p>
          <a:p>
            <a:pPr>
              <a:spcAft>
                <a:spcPts val="800"/>
              </a:spcAft>
              <a:defRPr sz="2000"/>
            </a:pPr>
            <a:r>
              <a:t>   - Divided by strata (major), then random within each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3. Convenience Sampling</a:t>
            </a:r>
          </a:p>
          <a:p>
            <a:pPr>
              <a:spcAft>
                <a:spcPts val="800"/>
              </a:spcAft>
              <a:defRPr sz="2000"/>
            </a:pPr>
            <a:r>
              <a:t>   - Only includes students who happen to pass by</a:t>
            </a:r>
          </a:p>
          <a:p>
            <a:pPr>
              <a:spcAft>
                <a:spcPts val="800"/>
              </a:spcAft>
              <a:defRPr sz="2000"/>
            </a:pPr>
            <a:r>
              <a:t>   - Not everyone has a chance to be selected</a:t>
            </a:r>
          </a:p>
          <a:p>
            <a:pPr>
              <a:spcAft>
                <a:spcPts val="800"/>
              </a:spcAft>
              <a:defRPr sz="2000"/>
            </a:pPr>
            <a:r>
              <a:t>   - Cannot generalize to all students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Evaluating a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When reading research, ask these questions: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What is the target population?</a:t>
            </a:r>
          </a:p>
          <a:p>
            <a:pPr>
              <a:spcAft>
                <a:spcPts val="800"/>
              </a:spcAft>
              <a:defRPr sz="2000"/>
            </a:pPr>
            <a:r>
              <a:t>2. What sampling method was used?</a:t>
            </a:r>
          </a:p>
          <a:p>
            <a:pPr>
              <a:spcAft>
                <a:spcPts val="800"/>
              </a:spcAft>
              <a:defRPr sz="2000"/>
            </a:pPr>
            <a:r>
              <a:t>3. What was the sample size?</a:t>
            </a:r>
          </a:p>
          <a:p>
            <a:pPr>
              <a:spcAft>
                <a:spcPts val="800"/>
              </a:spcAft>
              <a:defRPr sz="2000"/>
            </a:pPr>
            <a:r>
              <a:t>4. Who was excluded from the sample?</a:t>
            </a:r>
          </a:p>
          <a:p>
            <a:pPr>
              <a:spcAft>
                <a:spcPts val="800"/>
              </a:spcAft>
              <a:defRPr sz="2000"/>
            </a:pPr>
            <a:r>
              <a:t>5. What was the response rate?</a:t>
            </a:r>
          </a:p>
          <a:p>
            <a:pPr>
              <a:spcAft>
                <a:spcPts val="800"/>
              </a:spcAft>
              <a:defRPr sz="2000"/>
            </a:pPr>
            <a:r>
              <a:t>6. How representative is the sample?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These determine how much you can trust the findings!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Sample Size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Larger samples are generally better, but...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Factors affecting needed sample size:</a:t>
            </a:r>
          </a:p>
          <a:p>
            <a:pPr>
              <a:spcAft>
                <a:spcPts val="800"/>
              </a:spcAft>
              <a:defRPr sz="2000"/>
            </a:pPr>
            <a:r>
              <a:t>   - Desired precision (margin of error)</a:t>
            </a:r>
          </a:p>
          <a:p>
            <a:pPr>
              <a:spcAft>
                <a:spcPts val="800"/>
              </a:spcAft>
              <a:defRPr sz="2000"/>
            </a:pPr>
            <a:r>
              <a:t>   - Population variability</a:t>
            </a:r>
          </a:p>
          <a:p>
            <a:pPr>
              <a:spcAft>
                <a:spcPts val="800"/>
              </a:spcAft>
              <a:defRPr sz="2000"/>
            </a:pPr>
            <a:r>
              <a:t>   - Confidence level desired</a:t>
            </a:r>
          </a:p>
          <a:p>
            <a:pPr>
              <a:spcAft>
                <a:spcPts val="800"/>
              </a:spcAft>
              <a:defRPr sz="2000"/>
            </a:pPr>
            <a:r>
              <a:t>   - Resources available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Rule of thumb for surveys:</a:t>
            </a:r>
          </a:p>
          <a:p>
            <a:pPr>
              <a:spcAft>
                <a:spcPts val="800"/>
              </a:spcAft>
              <a:defRPr sz="2000"/>
            </a:pPr>
            <a:r>
              <a:t>   - 30+ for basic analyses</a:t>
            </a:r>
          </a:p>
          <a:p>
            <a:pPr>
              <a:spcAft>
                <a:spcPts val="800"/>
              </a:spcAft>
              <a:defRPr sz="2000"/>
            </a:pPr>
            <a:r>
              <a:t>   - 100+ for subgroup comparisons</a:t>
            </a:r>
          </a:p>
          <a:p>
            <a:pPr>
              <a:spcAft>
                <a:spcPts val="800"/>
              </a:spcAft>
              <a:defRPr sz="2000"/>
            </a:pPr>
            <a:r>
              <a:t>   - 384 for ±5% margin of error (large population)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PROBABILITY SAMPLING (preferred for research):</a:t>
            </a:r>
          </a:p>
          <a:p>
            <a:pPr>
              <a:spcAft>
                <a:spcPts val="800"/>
              </a:spcAft>
              <a:defRPr sz="2000"/>
            </a:pPr>
            <a:r>
              <a:t>   - Simple Random: Equal chance for everyone</a:t>
            </a:r>
          </a:p>
          <a:p>
            <a:pPr>
              <a:spcAft>
                <a:spcPts val="800"/>
              </a:spcAft>
              <a:defRPr sz="2000"/>
            </a:pPr>
            <a:r>
              <a:t>   - Stratified: Divide into groups, sample from each</a:t>
            </a:r>
          </a:p>
          <a:p>
            <a:pPr>
              <a:spcAft>
                <a:spcPts val="800"/>
              </a:spcAft>
              <a:defRPr sz="2000"/>
            </a:pPr>
            <a:r>
              <a:t>   - Cluster: Sample whole groups</a:t>
            </a:r>
          </a:p>
          <a:p>
            <a:pPr>
              <a:spcAft>
                <a:spcPts val="800"/>
              </a:spcAft>
              <a:defRPr sz="2000"/>
            </a:pPr>
            <a:r>
              <a:t>   - Systematic: Every kth member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WATCH OUT FOR BIAS:</a:t>
            </a:r>
          </a:p>
          <a:p>
            <a:pPr>
              <a:spcAft>
                <a:spcPts val="800"/>
              </a:spcAft>
              <a:defRPr sz="2000"/>
            </a:pPr>
            <a:r>
              <a:t>   - Who was excluded?</a:t>
            </a:r>
          </a:p>
          <a:p>
            <a:pPr>
              <a:spcAft>
                <a:spcPts val="800"/>
              </a:spcAft>
              <a:defRPr sz="2000"/>
            </a:pPr>
            <a:r>
              <a:t>   - Who chose not to respond?</a:t>
            </a:r>
          </a:p>
          <a:p>
            <a:pPr>
              <a:spcAft>
                <a:spcPts val="800"/>
              </a:spcAft>
              <a:defRPr sz="2000"/>
            </a:pPr>
            <a:r>
              <a:t>   - Can we generalize the findings?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Always evaluate the sampling method before trusting results!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MIDTERM ASSESSMENT due this week!</a:t>
            </a:r>
          </a:p>
          <a:p>
            <a:pPr>
              <a:spcAft>
                <a:spcPts val="800"/>
              </a:spcAft>
              <a:defRPr sz="2000"/>
            </a:pPr>
            <a:r>
              <a:t>   - Option A: Literature Review</a:t>
            </a:r>
          </a:p>
          <a:p>
            <a:pPr>
              <a:spcAft>
                <a:spcPts val="800"/>
              </a:spcAft>
              <a:defRPr sz="2000"/>
            </a:pPr>
            <a:r>
              <a:t>   - Option B: Comprehensive Exam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This week's assignments:</a:t>
            </a:r>
          </a:p>
          <a:p>
            <a:pPr>
              <a:spcAft>
                <a:spcPts val="800"/>
              </a:spcAft>
              <a:defRPr sz="2000"/>
            </a:pPr>
            <a:r>
              <a:t>   - Discussion #4: When Samples Don't Represent</a:t>
            </a:r>
          </a:p>
          <a:p>
            <a:pPr>
              <a:spcAft>
                <a:spcPts val="800"/>
              </a:spcAft>
              <a:defRPr sz="2000"/>
            </a:pPr>
            <a:r>
              <a:t>   - Quiz #4: Sampling Methods</a:t>
            </a:r>
          </a:p>
          <a:p>
            <a:pPr>
              <a:spcAft>
                <a:spcPts val="800"/>
              </a:spcAft>
              <a:defRPr sz="2000"/>
            </a:pPr>
            <a:r>
              <a:t>   - Midterm Assessment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Next week: Correlation and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